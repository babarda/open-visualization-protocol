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The north-central lane carries the heaviest exchange</a:t>
            </a:r>
          </a:p>
        </p:txBody>
      </p:sp>
      <p:sp>
        <p:nvSpPr>
          <p:cNvPr id="4" name="Freeform 3"/>
          <p:cNvSpPr/>
          <p:nvPr/>
        </p:nvSpPr>
        <p:spPr>
          <a:xfrm>
            <a:off x="4543425" y="1905000"/>
            <a:ext cx="857250" cy="2733675"/>
          </a:xfrm>
          <a:custGeom>
            <a:avLst/>
            <a:gdLst/>
            <a:ahLst/>
            <a:cxnLst/>
            <a:rect l="l" t="t" r="r" b="b"/>
            <a:pathLst>
              <a:path w="90" h="287">
                <a:moveTo>
                  <a:pt x="90" y="0"/>
                </a:moveTo>
                <a:lnTo>
                  <a:pt x="73" y="15"/>
                </a:lnTo>
                <a:lnTo>
                  <a:pt x="59" y="31"/>
                </a:lnTo>
                <a:lnTo>
                  <a:pt x="46" y="47"/>
                </a:lnTo>
                <a:lnTo>
                  <a:pt x="34" y="63"/>
                </a:lnTo>
                <a:lnTo>
                  <a:pt x="25" y="80"/>
                </a:lnTo>
                <a:lnTo>
                  <a:pt x="16" y="97"/>
                </a:lnTo>
                <a:lnTo>
                  <a:pt x="10" y="114"/>
                </a:lnTo>
                <a:lnTo>
                  <a:pt x="5" y="132"/>
                </a:lnTo>
                <a:lnTo>
                  <a:pt x="2" y="150"/>
                </a:lnTo>
                <a:lnTo>
                  <a:pt x="0" y="168"/>
                </a:lnTo>
                <a:lnTo>
                  <a:pt x="0" y="187"/>
                </a:lnTo>
                <a:lnTo>
                  <a:pt x="2" y="207"/>
                </a:lnTo>
                <a:lnTo>
                  <a:pt x="5" y="226"/>
                </a:lnTo>
                <a:lnTo>
                  <a:pt x="10" y="246"/>
                </a:lnTo>
                <a:lnTo>
                  <a:pt x="17" y="267"/>
                </a:lnTo>
                <a:lnTo>
                  <a:pt x="25" y="287"/>
                </a:lnTo>
              </a:path>
            </a:pathLst>
          </a:custGeom>
          <a:noFill/>
          <a:ln w="166687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505075" y="1905000"/>
            <a:ext cx="2895600" cy="1828800"/>
          </a:xfrm>
          <a:custGeom>
            <a:avLst/>
            <a:gdLst/>
            <a:ahLst/>
            <a:cxnLst/>
            <a:rect l="l" t="t" r="r" b="b"/>
            <a:pathLst>
              <a:path w="304" h="192">
                <a:moveTo>
                  <a:pt x="304" y="0"/>
                </a:moveTo>
                <a:lnTo>
                  <a:pt x="287" y="15"/>
                </a:lnTo>
                <a:lnTo>
                  <a:pt x="269" y="29"/>
                </a:lnTo>
                <a:lnTo>
                  <a:pt x="251" y="43"/>
                </a:lnTo>
                <a:lnTo>
                  <a:pt x="233" y="57"/>
                </a:lnTo>
                <a:lnTo>
                  <a:pt x="215" y="70"/>
                </a:lnTo>
                <a:lnTo>
                  <a:pt x="197" y="83"/>
                </a:lnTo>
                <a:lnTo>
                  <a:pt x="178" y="96"/>
                </a:lnTo>
                <a:lnTo>
                  <a:pt x="159" y="108"/>
                </a:lnTo>
                <a:lnTo>
                  <a:pt x="140" y="120"/>
                </a:lnTo>
                <a:lnTo>
                  <a:pt x="121" y="131"/>
                </a:lnTo>
                <a:lnTo>
                  <a:pt x="101" y="142"/>
                </a:lnTo>
                <a:lnTo>
                  <a:pt x="81" y="153"/>
                </a:lnTo>
                <a:lnTo>
                  <a:pt x="61" y="163"/>
                </a:lnTo>
                <a:lnTo>
                  <a:pt x="41" y="173"/>
                </a:lnTo>
                <a:lnTo>
                  <a:pt x="21" y="183"/>
                </a:lnTo>
                <a:lnTo>
                  <a:pt x="0" y="192"/>
                </a:lnTo>
              </a:path>
            </a:pathLst>
          </a:custGeom>
          <a:noFill/>
          <a:ln w="65055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647950" y="1905000"/>
            <a:ext cx="2752725" cy="619125"/>
          </a:xfrm>
          <a:custGeom>
            <a:avLst/>
            <a:gdLst/>
            <a:ahLst/>
            <a:cxnLst/>
            <a:rect l="l" t="t" r="r" b="b"/>
            <a:pathLst>
              <a:path w="289" h="65">
                <a:moveTo>
                  <a:pt x="289" y="0"/>
                </a:moveTo>
                <a:lnTo>
                  <a:pt x="272" y="14"/>
                </a:lnTo>
                <a:lnTo>
                  <a:pt x="254" y="26"/>
                </a:lnTo>
                <a:lnTo>
                  <a:pt x="237" y="37"/>
                </a:lnTo>
                <a:lnTo>
                  <a:pt x="219" y="46"/>
                </a:lnTo>
                <a:lnTo>
                  <a:pt x="202" y="53"/>
                </a:lnTo>
                <a:lnTo>
                  <a:pt x="184" y="59"/>
                </a:lnTo>
                <a:lnTo>
                  <a:pt x="166" y="63"/>
                </a:lnTo>
                <a:lnTo>
                  <a:pt x="148" y="65"/>
                </a:lnTo>
                <a:lnTo>
                  <a:pt x="130" y="65"/>
                </a:lnTo>
                <a:lnTo>
                  <a:pt x="112" y="64"/>
                </a:lnTo>
                <a:lnTo>
                  <a:pt x="93" y="61"/>
                </a:lnTo>
                <a:lnTo>
                  <a:pt x="75" y="56"/>
                </a:lnTo>
                <a:lnTo>
                  <a:pt x="56" y="50"/>
                </a:lnTo>
                <a:lnTo>
                  <a:pt x="38" y="42"/>
                </a:lnTo>
                <a:lnTo>
                  <a:pt x="19" y="32"/>
                </a:lnTo>
                <a:lnTo>
                  <a:pt x="0" y="20"/>
                </a:lnTo>
              </a:path>
            </a:pathLst>
          </a:custGeom>
          <a:noFill/>
          <a:ln w="48196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581400" y="1390650"/>
            <a:ext cx="1819275" cy="981075"/>
          </a:xfrm>
          <a:custGeom>
            <a:avLst/>
            <a:gdLst/>
            <a:ahLst/>
            <a:cxnLst/>
            <a:rect l="l" t="t" r="r" b="b"/>
            <a:pathLst>
              <a:path w="191" h="103">
                <a:moveTo>
                  <a:pt x="191" y="54"/>
                </a:moveTo>
                <a:lnTo>
                  <a:pt x="174" y="68"/>
                </a:lnTo>
                <a:lnTo>
                  <a:pt x="158" y="79"/>
                </a:lnTo>
                <a:lnTo>
                  <a:pt x="142" y="89"/>
                </a:lnTo>
                <a:lnTo>
                  <a:pt x="128" y="96"/>
                </a:lnTo>
                <a:lnTo>
                  <a:pt x="113" y="100"/>
                </a:lnTo>
                <a:lnTo>
                  <a:pt x="100" y="103"/>
                </a:lnTo>
                <a:lnTo>
                  <a:pt x="87" y="103"/>
                </a:lnTo>
                <a:lnTo>
                  <a:pt x="75" y="101"/>
                </a:lnTo>
                <a:lnTo>
                  <a:pt x="63" y="96"/>
                </a:lnTo>
                <a:lnTo>
                  <a:pt x="52" y="89"/>
                </a:lnTo>
                <a:lnTo>
                  <a:pt x="42" y="80"/>
                </a:lnTo>
                <a:lnTo>
                  <a:pt x="32" y="69"/>
                </a:lnTo>
                <a:lnTo>
                  <a:pt x="23" y="55"/>
                </a:lnTo>
                <a:lnTo>
                  <a:pt x="15" y="39"/>
                </a:lnTo>
                <a:lnTo>
                  <a:pt x="7" y="21"/>
                </a:lnTo>
                <a:lnTo>
                  <a:pt x="0" y="0"/>
                </a:lnTo>
              </a:path>
            </a:pathLst>
          </a:custGeom>
          <a:noFill/>
          <a:ln w="31242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543425" y="1905000"/>
            <a:ext cx="857250" cy="2733675"/>
          </a:xfrm>
          <a:custGeom>
            <a:avLst/>
            <a:gdLst/>
            <a:ahLst/>
            <a:cxnLst/>
            <a:rect l="l" t="t" r="r" b="b"/>
            <a:pathLst>
              <a:path w="90" h="287">
                <a:moveTo>
                  <a:pt x="25" y="287"/>
                </a:moveTo>
                <a:lnTo>
                  <a:pt x="17" y="267"/>
                </a:lnTo>
                <a:lnTo>
                  <a:pt x="10" y="246"/>
                </a:lnTo>
                <a:lnTo>
                  <a:pt x="5" y="226"/>
                </a:lnTo>
                <a:lnTo>
                  <a:pt x="2" y="207"/>
                </a:lnTo>
                <a:lnTo>
                  <a:pt x="0" y="187"/>
                </a:lnTo>
                <a:lnTo>
                  <a:pt x="0" y="168"/>
                </a:lnTo>
                <a:lnTo>
                  <a:pt x="2" y="150"/>
                </a:lnTo>
                <a:lnTo>
                  <a:pt x="5" y="132"/>
                </a:lnTo>
                <a:lnTo>
                  <a:pt x="10" y="114"/>
                </a:lnTo>
                <a:lnTo>
                  <a:pt x="16" y="97"/>
                </a:lnTo>
                <a:lnTo>
                  <a:pt x="25" y="80"/>
                </a:lnTo>
                <a:lnTo>
                  <a:pt x="34" y="63"/>
                </a:lnTo>
                <a:lnTo>
                  <a:pt x="46" y="47"/>
                </a:lnTo>
                <a:lnTo>
                  <a:pt x="59" y="31"/>
                </a:lnTo>
                <a:lnTo>
                  <a:pt x="73" y="15"/>
                </a:lnTo>
                <a:lnTo>
                  <a:pt x="90" y="0"/>
                </a:lnTo>
              </a:path>
            </a:pathLst>
          </a:custGeom>
          <a:noFill/>
          <a:ln w="115919">
            <a:solidFill>
              <a:srgbClr val="299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505075" y="3524250"/>
            <a:ext cx="2276475" cy="1114425"/>
          </a:xfrm>
          <a:custGeom>
            <a:avLst/>
            <a:gdLst/>
            <a:ahLst/>
            <a:cxnLst/>
            <a:rect l="l" t="t" r="r" b="b"/>
            <a:pathLst>
              <a:path w="239" h="117">
                <a:moveTo>
                  <a:pt x="239" y="117"/>
                </a:moveTo>
                <a:lnTo>
                  <a:pt x="229" y="97"/>
                </a:lnTo>
                <a:lnTo>
                  <a:pt x="219" y="79"/>
                </a:lnTo>
                <a:lnTo>
                  <a:pt x="208" y="63"/>
                </a:lnTo>
                <a:lnTo>
                  <a:pt x="197" y="49"/>
                </a:lnTo>
                <a:lnTo>
                  <a:pt x="185" y="36"/>
                </a:lnTo>
                <a:lnTo>
                  <a:pt x="171" y="25"/>
                </a:lnTo>
                <a:lnTo>
                  <a:pt x="158" y="17"/>
                </a:lnTo>
                <a:lnTo>
                  <a:pt x="143" y="10"/>
                </a:lnTo>
                <a:lnTo>
                  <a:pt x="128" y="5"/>
                </a:lnTo>
                <a:lnTo>
                  <a:pt x="112" y="2"/>
                </a:lnTo>
                <a:lnTo>
                  <a:pt x="95" y="0"/>
                </a:lnTo>
                <a:lnTo>
                  <a:pt x="77" y="1"/>
                </a:lnTo>
                <a:lnTo>
                  <a:pt x="59" y="3"/>
                </a:lnTo>
                <a:lnTo>
                  <a:pt x="40" y="8"/>
                </a:lnTo>
                <a:lnTo>
                  <a:pt x="20" y="14"/>
                </a:lnTo>
                <a:lnTo>
                  <a:pt x="0" y="22"/>
                </a:lnTo>
              </a:path>
            </a:pathLst>
          </a:custGeom>
          <a:noFill/>
          <a:ln w="82010">
            <a:solidFill>
              <a:srgbClr val="299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647950" y="2095500"/>
            <a:ext cx="2133600" cy="2543175"/>
          </a:xfrm>
          <a:custGeom>
            <a:avLst/>
            <a:gdLst/>
            <a:ahLst/>
            <a:cxnLst/>
            <a:rect l="l" t="t" r="r" b="b"/>
            <a:pathLst>
              <a:path w="224" h="267">
                <a:moveTo>
                  <a:pt x="224" y="267"/>
                </a:moveTo>
                <a:lnTo>
                  <a:pt x="214" y="247"/>
                </a:lnTo>
                <a:lnTo>
                  <a:pt x="204" y="227"/>
                </a:lnTo>
                <a:lnTo>
                  <a:pt x="194" y="207"/>
                </a:lnTo>
                <a:lnTo>
                  <a:pt x="183" y="188"/>
                </a:lnTo>
                <a:lnTo>
                  <a:pt x="171" y="169"/>
                </a:lnTo>
                <a:lnTo>
                  <a:pt x="159" y="151"/>
                </a:lnTo>
                <a:lnTo>
                  <a:pt x="146" y="134"/>
                </a:lnTo>
                <a:lnTo>
                  <a:pt x="132" y="117"/>
                </a:lnTo>
                <a:lnTo>
                  <a:pt x="118" y="100"/>
                </a:lnTo>
                <a:lnTo>
                  <a:pt x="103" y="85"/>
                </a:lnTo>
                <a:lnTo>
                  <a:pt x="87" y="69"/>
                </a:lnTo>
                <a:lnTo>
                  <a:pt x="71" y="54"/>
                </a:lnTo>
                <a:lnTo>
                  <a:pt x="54" y="40"/>
                </a:lnTo>
                <a:lnTo>
                  <a:pt x="37" y="26"/>
                </a:lnTo>
                <a:lnTo>
                  <a:pt x="19" y="13"/>
                </a:lnTo>
                <a:lnTo>
                  <a:pt x="0" y="0"/>
                </a:lnTo>
              </a:path>
            </a:pathLst>
          </a:custGeom>
          <a:noFill/>
          <a:ln w="56578">
            <a:solidFill>
              <a:srgbClr val="299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581400" y="1390650"/>
            <a:ext cx="1200150" cy="3248025"/>
          </a:xfrm>
          <a:custGeom>
            <a:avLst/>
            <a:gdLst/>
            <a:ahLst/>
            <a:cxnLst/>
            <a:rect l="l" t="t" r="r" b="b"/>
            <a:pathLst>
              <a:path w="126" h="341">
                <a:moveTo>
                  <a:pt x="126" y="341"/>
                </a:moveTo>
                <a:lnTo>
                  <a:pt x="117" y="320"/>
                </a:lnTo>
                <a:lnTo>
                  <a:pt x="108" y="299"/>
                </a:lnTo>
                <a:lnTo>
                  <a:pt x="99" y="278"/>
                </a:lnTo>
                <a:lnTo>
                  <a:pt x="91" y="257"/>
                </a:lnTo>
                <a:lnTo>
                  <a:pt x="83" y="236"/>
                </a:lnTo>
                <a:lnTo>
                  <a:pt x="74" y="215"/>
                </a:lnTo>
                <a:lnTo>
                  <a:pt x="66" y="194"/>
                </a:lnTo>
                <a:lnTo>
                  <a:pt x="58" y="172"/>
                </a:lnTo>
                <a:lnTo>
                  <a:pt x="51" y="151"/>
                </a:lnTo>
                <a:lnTo>
                  <a:pt x="43" y="130"/>
                </a:lnTo>
                <a:lnTo>
                  <a:pt x="35" y="108"/>
                </a:lnTo>
                <a:lnTo>
                  <a:pt x="28" y="87"/>
                </a:lnTo>
                <a:lnTo>
                  <a:pt x="21" y="65"/>
                </a:lnTo>
                <a:lnTo>
                  <a:pt x="14" y="44"/>
                </a:lnTo>
                <a:lnTo>
                  <a:pt x="7" y="22"/>
                </a:lnTo>
                <a:lnTo>
                  <a:pt x="0" y="0"/>
                </a:lnTo>
              </a:path>
            </a:pathLst>
          </a:custGeom>
          <a:noFill/>
          <a:ln w="39719">
            <a:solidFill>
              <a:srgbClr val="299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505075" y="1905000"/>
            <a:ext cx="2895600" cy="1828800"/>
          </a:xfrm>
          <a:custGeom>
            <a:avLst/>
            <a:gdLst/>
            <a:ahLst/>
            <a:cxnLst/>
            <a:rect l="l" t="t" r="r" b="b"/>
            <a:pathLst>
              <a:path w="304" h="192">
                <a:moveTo>
                  <a:pt x="0" y="192"/>
                </a:moveTo>
                <a:lnTo>
                  <a:pt x="21" y="183"/>
                </a:lnTo>
                <a:lnTo>
                  <a:pt x="41" y="173"/>
                </a:lnTo>
                <a:lnTo>
                  <a:pt x="61" y="163"/>
                </a:lnTo>
                <a:lnTo>
                  <a:pt x="81" y="153"/>
                </a:lnTo>
                <a:lnTo>
                  <a:pt x="101" y="142"/>
                </a:lnTo>
                <a:lnTo>
                  <a:pt x="121" y="131"/>
                </a:lnTo>
                <a:lnTo>
                  <a:pt x="140" y="120"/>
                </a:lnTo>
                <a:lnTo>
                  <a:pt x="159" y="108"/>
                </a:lnTo>
                <a:lnTo>
                  <a:pt x="178" y="96"/>
                </a:lnTo>
                <a:lnTo>
                  <a:pt x="197" y="83"/>
                </a:lnTo>
                <a:lnTo>
                  <a:pt x="215" y="70"/>
                </a:lnTo>
                <a:lnTo>
                  <a:pt x="233" y="57"/>
                </a:lnTo>
                <a:lnTo>
                  <a:pt x="251" y="43"/>
                </a:lnTo>
                <a:lnTo>
                  <a:pt x="269" y="29"/>
                </a:lnTo>
                <a:lnTo>
                  <a:pt x="287" y="15"/>
                </a:lnTo>
                <a:lnTo>
                  <a:pt x="304" y="0"/>
                </a:lnTo>
              </a:path>
            </a:pathLst>
          </a:custGeom>
          <a:noFill/>
          <a:ln w="48196">
            <a:solidFill>
              <a:srgbClr val="53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505075" y="3524250"/>
            <a:ext cx="2276475" cy="1114425"/>
          </a:xfrm>
          <a:custGeom>
            <a:avLst/>
            <a:gdLst/>
            <a:ahLst/>
            <a:cxnLst/>
            <a:rect l="l" t="t" r="r" b="b"/>
            <a:pathLst>
              <a:path w="239" h="117">
                <a:moveTo>
                  <a:pt x="0" y="22"/>
                </a:moveTo>
                <a:lnTo>
                  <a:pt x="20" y="14"/>
                </a:lnTo>
                <a:lnTo>
                  <a:pt x="40" y="8"/>
                </a:lnTo>
                <a:lnTo>
                  <a:pt x="59" y="3"/>
                </a:lnTo>
                <a:lnTo>
                  <a:pt x="77" y="1"/>
                </a:lnTo>
                <a:lnTo>
                  <a:pt x="95" y="0"/>
                </a:lnTo>
                <a:lnTo>
                  <a:pt x="112" y="2"/>
                </a:lnTo>
                <a:lnTo>
                  <a:pt x="128" y="5"/>
                </a:lnTo>
                <a:lnTo>
                  <a:pt x="143" y="10"/>
                </a:lnTo>
                <a:lnTo>
                  <a:pt x="158" y="17"/>
                </a:lnTo>
                <a:lnTo>
                  <a:pt x="171" y="25"/>
                </a:lnTo>
                <a:lnTo>
                  <a:pt x="185" y="36"/>
                </a:lnTo>
                <a:lnTo>
                  <a:pt x="197" y="49"/>
                </a:lnTo>
                <a:lnTo>
                  <a:pt x="208" y="63"/>
                </a:lnTo>
                <a:lnTo>
                  <a:pt x="219" y="79"/>
                </a:lnTo>
                <a:lnTo>
                  <a:pt x="229" y="97"/>
                </a:lnTo>
                <a:lnTo>
                  <a:pt x="239" y="117"/>
                </a:lnTo>
              </a:path>
            </a:pathLst>
          </a:custGeom>
          <a:noFill/>
          <a:ln w="65055">
            <a:solidFill>
              <a:srgbClr val="53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505075" y="2095500"/>
            <a:ext cx="828675" cy="1638300"/>
          </a:xfrm>
          <a:custGeom>
            <a:avLst/>
            <a:gdLst/>
            <a:ahLst/>
            <a:cxnLst/>
            <a:rect l="l" t="t" r="r" b="b"/>
            <a:pathLst>
              <a:path w="87" h="172">
                <a:moveTo>
                  <a:pt x="0" y="172"/>
                </a:moveTo>
                <a:lnTo>
                  <a:pt x="19" y="163"/>
                </a:lnTo>
                <a:lnTo>
                  <a:pt x="37" y="153"/>
                </a:lnTo>
                <a:lnTo>
                  <a:pt x="51" y="144"/>
                </a:lnTo>
                <a:lnTo>
                  <a:pt x="63" y="134"/>
                </a:lnTo>
                <a:lnTo>
                  <a:pt x="73" y="124"/>
                </a:lnTo>
                <a:lnTo>
                  <a:pt x="80" y="114"/>
                </a:lnTo>
                <a:lnTo>
                  <a:pt x="85" y="104"/>
                </a:lnTo>
                <a:lnTo>
                  <a:pt x="87" y="93"/>
                </a:lnTo>
                <a:lnTo>
                  <a:pt x="87" y="82"/>
                </a:lnTo>
                <a:lnTo>
                  <a:pt x="84" y="71"/>
                </a:lnTo>
                <a:lnTo>
                  <a:pt x="79" y="60"/>
                </a:lnTo>
                <a:lnTo>
                  <a:pt x="71" y="48"/>
                </a:lnTo>
                <a:lnTo>
                  <a:pt x="61" y="37"/>
                </a:lnTo>
                <a:lnTo>
                  <a:pt x="48" y="25"/>
                </a:lnTo>
                <a:lnTo>
                  <a:pt x="33" y="12"/>
                </a:lnTo>
                <a:lnTo>
                  <a:pt x="15" y="0"/>
                </a:lnTo>
              </a:path>
            </a:pathLst>
          </a:custGeom>
          <a:noFill/>
          <a:ln w="39719">
            <a:solidFill>
              <a:srgbClr val="53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505075" y="1390650"/>
            <a:ext cx="1200150" cy="2343150"/>
          </a:xfrm>
          <a:custGeom>
            <a:avLst/>
            <a:gdLst/>
            <a:ahLst/>
            <a:cxnLst/>
            <a:rect l="l" t="t" r="r" b="b"/>
            <a:pathLst>
              <a:path w="126" h="246">
                <a:moveTo>
                  <a:pt x="0" y="246"/>
                </a:moveTo>
                <a:lnTo>
                  <a:pt x="20" y="236"/>
                </a:lnTo>
                <a:lnTo>
                  <a:pt x="38" y="226"/>
                </a:lnTo>
                <a:lnTo>
                  <a:pt x="55" y="215"/>
                </a:lnTo>
                <a:lnTo>
                  <a:pt x="70" y="204"/>
                </a:lnTo>
                <a:lnTo>
                  <a:pt x="83" y="191"/>
                </a:lnTo>
                <a:lnTo>
                  <a:pt x="94" y="178"/>
                </a:lnTo>
                <a:lnTo>
                  <a:pt x="104" y="163"/>
                </a:lnTo>
                <a:lnTo>
                  <a:pt x="112" y="149"/>
                </a:lnTo>
                <a:lnTo>
                  <a:pt x="118" y="133"/>
                </a:lnTo>
                <a:lnTo>
                  <a:pt x="122" y="116"/>
                </a:lnTo>
                <a:lnTo>
                  <a:pt x="125" y="99"/>
                </a:lnTo>
                <a:lnTo>
                  <a:pt x="126" y="81"/>
                </a:lnTo>
                <a:lnTo>
                  <a:pt x="125" y="62"/>
                </a:lnTo>
                <a:lnTo>
                  <a:pt x="123" y="42"/>
                </a:lnTo>
                <a:lnTo>
                  <a:pt x="119" y="22"/>
                </a:lnTo>
                <a:lnTo>
                  <a:pt x="113" y="0"/>
                </a:lnTo>
              </a:path>
            </a:pathLst>
          </a:custGeom>
          <a:noFill/>
          <a:ln w="31242">
            <a:solidFill>
              <a:srgbClr val="53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647950" y="1905000"/>
            <a:ext cx="2752725" cy="619125"/>
          </a:xfrm>
          <a:custGeom>
            <a:avLst/>
            <a:gdLst/>
            <a:ahLst/>
            <a:cxnLst/>
            <a:rect l="l" t="t" r="r" b="b"/>
            <a:pathLst>
              <a:path w="289" h="65">
                <a:moveTo>
                  <a:pt x="0" y="20"/>
                </a:moveTo>
                <a:lnTo>
                  <a:pt x="19" y="32"/>
                </a:lnTo>
                <a:lnTo>
                  <a:pt x="38" y="42"/>
                </a:lnTo>
                <a:lnTo>
                  <a:pt x="56" y="50"/>
                </a:lnTo>
                <a:lnTo>
                  <a:pt x="75" y="56"/>
                </a:lnTo>
                <a:lnTo>
                  <a:pt x="93" y="61"/>
                </a:lnTo>
                <a:lnTo>
                  <a:pt x="112" y="64"/>
                </a:lnTo>
                <a:lnTo>
                  <a:pt x="130" y="65"/>
                </a:lnTo>
                <a:lnTo>
                  <a:pt x="148" y="65"/>
                </a:lnTo>
                <a:lnTo>
                  <a:pt x="166" y="63"/>
                </a:lnTo>
                <a:lnTo>
                  <a:pt x="184" y="59"/>
                </a:lnTo>
                <a:lnTo>
                  <a:pt x="202" y="53"/>
                </a:lnTo>
                <a:lnTo>
                  <a:pt x="219" y="46"/>
                </a:lnTo>
                <a:lnTo>
                  <a:pt x="237" y="37"/>
                </a:lnTo>
                <a:lnTo>
                  <a:pt x="254" y="26"/>
                </a:lnTo>
                <a:lnTo>
                  <a:pt x="272" y="14"/>
                </a:lnTo>
                <a:lnTo>
                  <a:pt x="289" y="0"/>
                </a:lnTo>
              </a:path>
            </a:pathLst>
          </a:custGeom>
          <a:noFill/>
          <a:ln w="39719">
            <a:solidFill>
              <a:srgbClr val="7C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47950" y="2095500"/>
            <a:ext cx="2133600" cy="2543175"/>
          </a:xfrm>
          <a:custGeom>
            <a:avLst/>
            <a:gdLst/>
            <a:ahLst/>
            <a:cxnLst/>
            <a:rect l="l" t="t" r="r" b="b"/>
            <a:pathLst>
              <a:path w="224" h="267">
                <a:moveTo>
                  <a:pt x="0" y="0"/>
                </a:moveTo>
                <a:lnTo>
                  <a:pt x="19" y="13"/>
                </a:lnTo>
                <a:lnTo>
                  <a:pt x="37" y="26"/>
                </a:lnTo>
                <a:lnTo>
                  <a:pt x="54" y="40"/>
                </a:lnTo>
                <a:lnTo>
                  <a:pt x="71" y="54"/>
                </a:lnTo>
                <a:lnTo>
                  <a:pt x="87" y="69"/>
                </a:lnTo>
                <a:lnTo>
                  <a:pt x="103" y="85"/>
                </a:lnTo>
                <a:lnTo>
                  <a:pt x="118" y="100"/>
                </a:lnTo>
                <a:lnTo>
                  <a:pt x="132" y="117"/>
                </a:lnTo>
                <a:lnTo>
                  <a:pt x="146" y="134"/>
                </a:lnTo>
                <a:lnTo>
                  <a:pt x="159" y="151"/>
                </a:lnTo>
                <a:lnTo>
                  <a:pt x="171" y="169"/>
                </a:lnTo>
                <a:lnTo>
                  <a:pt x="183" y="188"/>
                </a:lnTo>
                <a:lnTo>
                  <a:pt x="194" y="207"/>
                </a:lnTo>
                <a:lnTo>
                  <a:pt x="204" y="227"/>
                </a:lnTo>
                <a:lnTo>
                  <a:pt x="214" y="247"/>
                </a:lnTo>
                <a:lnTo>
                  <a:pt x="224" y="267"/>
                </a:lnTo>
              </a:path>
            </a:pathLst>
          </a:custGeom>
          <a:noFill/>
          <a:ln w="48196">
            <a:solidFill>
              <a:srgbClr val="7C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505075" y="2095500"/>
            <a:ext cx="828675" cy="1638300"/>
          </a:xfrm>
          <a:custGeom>
            <a:avLst/>
            <a:gdLst/>
            <a:ahLst/>
            <a:cxnLst/>
            <a:rect l="l" t="t" r="r" b="b"/>
            <a:pathLst>
              <a:path w="87" h="172">
                <a:moveTo>
                  <a:pt x="15" y="0"/>
                </a:moveTo>
                <a:lnTo>
                  <a:pt x="33" y="12"/>
                </a:lnTo>
                <a:lnTo>
                  <a:pt x="48" y="25"/>
                </a:lnTo>
                <a:lnTo>
                  <a:pt x="61" y="37"/>
                </a:lnTo>
                <a:lnTo>
                  <a:pt x="71" y="48"/>
                </a:lnTo>
                <a:lnTo>
                  <a:pt x="79" y="60"/>
                </a:lnTo>
                <a:lnTo>
                  <a:pt x="84" y="71"/>
                </a:lnTo>
                <a:lnTo>
                  <a:pt x="87" y="82"/>
                </a:lnTo>
                <a:lnTo>
                  <a:pt x="87" y="93"/>
                </a:lnTo>
                <a:lnTo>
                  <a:pt x="85" y="104"/>
                </a:lnTo>
                <a:lnTo>
                  <a:pt x="80" y="114"/>
                </a:lnTo>
                <a:lnTo>
                  <a:pt x="73" y="124"/>
                </a:lnTo>
                <a:lnTo>
                  <a:pt x="63" y="134"/>
                </a:lnTo>
                <a:lnTo>
                  <a:pt x="51" y="144"/>
                </a:lnTo>
                <a:lnTo>
                  <a:pt x="37" y="153"/>
                </a:lnTo>
                <a:lnTo>
                  <a:pt x="19" y="163"/>
                </a:lnTo>
                <a:lnTo>
                  <a:pt x="0" y="172"/>
                </a:lnTo>
              </a:path>
            </a:pathLst>
          </a:custGeom>
          <a:noFill/>
          <a:ln w="31242">
            <a:solidFill>
              <a:srgbClr val="7C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647950" y="1390650"/>
            <a:ext cx="1066800" cy="1057275"/>
          </a:xfrm>
          <a:custGeom>
            <a:avLst/>
            <a:gdLst/>
            <a:ahLst/>
            <a:cxnLst/>
            <a:rect l="l" t="t" r="r" b="b"/>
            <a:pathLst>
              <a:path w="112" h="111">
                <a:moveTo>
                  <a:pt x="0" y="74"/>
                </a:moveTo>
                <a:lnTo>
                  <a:pt x="18" y="86"/>
                </a:lnTo>
                <a:lnTo>
                  <a:pt x="35" y="95"/>
                </a:lnTo>
                <a:lnTo>
                  <a:pt x="50" y="102"/>
                </a:lnTo>
                <a:lnTo>
                  <a:pt x="63" y="107"/>
                </a:lnTo>
                <a:lnTo>
                  <a:pt x="75" y="110"/>
                </a:lnTo>
                <a:lnTo>
                  <a:pt x="85" y="111"/>
                </a:lnTo>
                <a:lnTo>
                  <a:pt x="93" y="109"/>
                </a:lnTo>
                <a:lnTo>
                  <a:pt x="100" y="106"/>
                </a:lnTo>
                <a:lnTo>
                  <a:pt x="106" y="100"/>
                </a:lnTo>
                <a:lnTo>
                  <a:pt x="109" y="92"/>
                </a:lnTo>
                <a:lnTo>
                  <a:pt x="111" y="82"/>
                </a:lnTo>
                <a:lnTo>
                  <a:pt x="112" y="70"/>
                </a:lnTo>
                <a:lnTo>
                  <a:pt x="111" y="56"/>
                </a:lnTo>
                <a:lnTo>
                  <a:pt x="108" y="39"/>
                </a:lnTo>
                <a:lnTo>
                  <a:pt x="104" y="21"/>
                </a:lnTo>
                <a:lnTo>
                  <a:pt x="98" y="0"/>
                </a:lnTo>
              </a:path>
            </a:pathLst>
          </a:custGeom>
          <a:noFill/>
          <a:ln w="22764">
            <a:solidFill>
              <a:srgbClr val="7C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581400" y="1390650"/>
            <a:ext cx="1819275" cy="981075"/>
          </a:xfrm>
          <a:custGeom>
            <a:avLst/>
            <a:gdLst/>
            <a:ahLst/>
            <a:cxnLst/>
            <a:rect l="l" t="t" r="r" b="b"/>
            <a:pathLst>
              <a:path w="191" h="103">
                <a:moveTo>
                  <a:pt x="0" y="0"/>
                </a:moveTo>
                <a:lnTo>
                  <a:pt x="7" y="21"/>
                </a:lnTo>
                <a:lnTo>
                  <a:pt x="15" y="39"/>
                </a:lnTo>
                <a:lnTo>
                  <a:pt x="23" y="55"/>
                </a:lnTo>
                <a:lnTo>
                  <a:pt x="32" y="69"/>
                </a:lnTo>
                <a:lnTo>
                  <a:pt x="42" y="80"/>
                </a:lnTo>
                <a:lnTo>
                  <a:pt x="52" y="89"/>
                </a:lnTo>
                <a:lnTo>
                  <a:pt x="63" y="96"/>
                </a:lnTo>
                <a:lnTo>
                  <a:pt x="75" y="101"/>
                </a:lnTo>
                <a:lnTo>
                  <a:pt x="87" y="103"/>
                </a:lnTo>
                <a:lnTo>
                  <a:pt x="100" y="103"/>
                </a:lnTo>
                <a:lnTo>
                  <a:pt x="113" y="100"/>
                </a:lnTo>
                <a:lnTo>
                  <a:pt x="128" y="96"/>
                </a:lnTo>
                <a:lnTo>
                  <a:pt x="142" y="89"/>
                </a:lnTo>
                <a:lnTo>
                  <a:pt x="158" y="79"/>
                </a:lnTo>
                <a:lnTo>
                  <a:pt x="174" y="68"/>
                </a:lnTo>
                <a:lnTo>
                  <a:pt x="191" y="54"/>
                </a:lnTo>
              </a:path>
            </a:pathLst>
          </a:custGeom>
          <a:noFill/>
          <a:ln w="31242">
            <a:solidFill>
              <a:srgbClr val="A6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581400" y="1390650"/>
            <a:ext cx="1200150" cy="3248025"/>
          </a:xfrm>
          <a:custGeom>
            <a:avLst/>
            <a:gdLst/>
            <a:ahLst/>
            <a:cxnLst/>
            <a:rect l="l" t="t" r="r" b="b"/>
            <a:pathLst>
              <a:path w="126" h="341">
                <a:moveTo>
                  <a:pt x="0" y="0"/>
                </a:moveTo>
                <a:lnTo>
                  <a:pt x="7" y="22"/>
                </a:lnTo>
                <a:lnTo>
                  <a:pt x="14" y="44"/>
                </a:lnTo>
                <a:lnTo>
                  <a:pt x="21" y="65"/>
                </a:lnTo>
                <a:lnTo>
                  <a:pt x="28" y="87"/>
                </a:lnTo>
                <a:lnTo>
                  <a:pt x="35" y="108"/>
                </a:lnTo>
                <a:lnTo>
                  <a:pt x="43" y="130"/>
                </a:lnTo>
                <a:lnTo>
                  <a:pt x="51" y="151"/>
                </a:lnTo>
                <a:lnTo>
                  <a:pt x="58" y="172"/>
                </a:lnTo>
                <a:lnTo>
                  <a:pt x="66" y="194"/>
                </a:lnTo>
                <a:lnTo>
                  <a:pt x="74" y="215"/>
                </a:lnTo>
                <a:lnTo>
                  <a:pt x="83" y="236"/>
                </a:lnTo>
                <a:lnTo>
                  <a:pt x="91" y="257"/>
                </a:lnTo>
                <a:lnTo>
                  <a:pt x="99" y="278"/>
                </a:lnTo>
                <a:lnTo>
                  <a:pt x="108" y="299"/>
                </a:lnTo>
                <a:lnTo>
                  <a:pt x="117" y="320"/>
                </a:lnTo>
                <a:lnTo>
                  <a:pt x="126" y="341"/>
                </a:lnTo>
              </a:path>
            </a:pathLst>
          </a:custGeom>
          <a:noFill/>
          <a:ln w="31242">
            <a:solidFill>
              <a:srgbClr val="A6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505075" y="1390650"/>
            <a:ext cx="1200150" cy="2343150"/>
          </a:xfrm>
          <a:custGeom>
            <a:avLst/>
            <a:gdLst/>
            <a:ahLst/>
            <a:cxnLst/>
            <a:rect l="l" t="t" r="r" b="b"/>
            <a:pathLst>
              <a:path w="126" h="246">
                <a:moveTo>
                  <a:pt x="113" y="0"/>
                </a:moveTo>
                <a:lnTo>
                  <a:pt x="119" y="22"/>
                </a:lnTo>
                <a:lnTo>
                  <a:pt x="123" y="42"/>
                </a:lnTo>
                <a:lnTo>
                  <a:pt x="125" y="62"/>
                </a:lnTo>
                <a:lnTo>
                  <a:pt x="126" y="81"/>
                </a:lnTo>
                <a:lnTo>
                  <a:pt x="125" y="99"/>
                </a:lnTo>
                <a:lnTo>
                  <a:pt x="122" y="116"/>
                </a:lnTo>
                <a:lnTo>
                  <a:pt x="118" y="133"/>
                </a:lnTo>
                <a:lnTo>
                  <a:pt x="112" y="149"/>
                </a:lnTo>
                <a:lnTo>
                  <a:pt x="104" y="163"/>
                </a:lnTo>
                <a:lnTo>
                  <a:pt x="94" y="178"/>
                </a:lnTo>
                <a:lnTo>
                  <a:pt x="83" y="191"/>
                </a:lnTo>
                <a:lnTo>
                  <a:pt x="70" y="204"/>
                </a:lnTo>
                <a:lnTo>
                  <a:pt x="55" y="215"/>
                </a:lnTo>
                <a:lnTo>
                  <a:pt x="38" y="226"/>
                </a:lnTo>
                <a:lnTo>
                  <a:pt x="20" y="236"/>
                </a:lnTo>
                <a:lnTo>
                  <a:pt x="0" y="246"/>
                </a:lnTo>
              </a:path>
            </a:pathLst>
          </a:custGeom>
          <a:noFill/>
          <a:ln w="22764">
            <a:solidFill>
              <a:srgbClr val="A6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647950" y="1390650"/>
            <a:ext cx="1066800" cy="1057275"/>
          </a:xfrm>
          <a:custGeom>
            <a:avLst/>
            <a:gdLst/>
            <a:ahLst/>
            <a:cxnLst/>
            <a:rect l="l" t="t" r="r" b="b"/>
            <a:pathLst>
              <a:path w="112" h="111">
                <a:moveTo>
                  <a:pt x="98" y="0"/>
                </a:moveTo>
                <a:lnTo>
                  <a:pt x="104" y="21"/>
                </a:lnTo>
                <a:lnTo>
                  <a:pt x="108" y="39"/>
                </a:lnTo>
                <a:lnTo>
                  <a:pt x="111" y="56"/>
                </a:lnTo>
                <a:lnTo>
                  <a:pt x="112" y="70"/>
                </a:lnTo>
                <a:lnTo>
                  <a:pt x="111" y="82"/>
                </a:lnTo>
                <a:lnTo>
                  <a:pt x="109" y="92"/>
                </a:lnTo>
                <a:lnTo>
                  <a:pt x="106" y="100"/>
                </a:lnTo>
                <a:lnTo>
                  <a:pt x="100" y="106"/>
                </a:lnTo>
                <a:lnTo>
                  <a:pt x="93" y="109"/>
                </a:lnTo>
                <a:lnTo>
                  <a:pt x="85" y="111"/>
                </a:lnTo>
                <a:lnTo>
                  <a:pt x="75" y="110"/>
                </a:lnTo>
                <a:lnTo>
                  <a:pt x="63" y="107"/>
                </a:lnTo>
                <a:lnTo>
                  <a:pt x="50" y="102"/>
                </a:lnTo>
                <a:lnTo>
                  <a:pt x="35" y="95"/>
                </a:lnTo>
                <a:lnTo>
                  <a:pt x="18" y="86"/>
                </a:lnTo>
                <a:lnTo>
                  <a:pt x="0" y="74"/>
                </a:lnTo>
              </a:path>
            </a:pathLst>
          </a:custGeom>
          <a:noFill/>
          <a:ln w="22764">
            <a:solidFill>
              <a:srgbClr val="A6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95750" y="1238250"/>
            <a:ext cx="1809750" cy="2047875"/>
          </a:xfrm>
          <a:custGeom>
            <a:avLst/>
            <a:gdLst/>
            <a:ahLst/>
            <a:cxnLst/>
            <a:rect l="l" t="t" r="r" b="b"/>
            <a:pathLst>
              <a:path w="190" h="215">
                <a:moveTo>
                  <a:pt x="0" y="0"/>
                </a:moveTo>
                <a:lnTo>
                  <a:pt x="13" y="0"/>
                </a:lnTo>
                <a:lnTo>
                  <a:pt x="27" y="2"/>
                </a:lnTo>
                <a:lnTo>
                  <a:pt x="40" y="4"/>
                </a:lnTo>
                <a:lnTo>
                  <a:pt x="53" y="8"/>
                </a:lnTo>
                <a:lnTo>
                  <a:pt x="66" y="12"/>
                </a:lnTo>
                <a:lnTo>
                  <a:pt x="78" y="17"/>
                </a:lnTo>
                <a:lnTo>
                  <a:pt x="90" y="23"/>
                </a:lnTo>
                <a:lnTo>
                  <a:pt x="102" y="30"/>
                </a:lnTo>
                <a:lnTo>
                  <a:pt x="113" y="37"/>
                </a:lnTo>
                <a:lnTo>
                  <a:pt x="124" y="46"/>
                </a:lnTo>
                <a:lnTo>
                  <a:pt x="134" y="55"/>
                </a:lnTo>
                <a:lnTo>
                  <a:pt x="143" y="65"/>
                </a:lnTo>
                <a:lnTo>
                  <a:pt x="151" y="75"/>
                </a:lnTo>
                <a:lnTo>
                  <a:pt x="159" y="86"/>
                </a:lnTo>
                <a:lnTo>
                  <a:pt x="166" y="98"/>
                </a:lnTo>
                <a:lnTo>
                  <a:pt x="172" y="110"/>
                </a:lnTo>
                <a:lnTo>
                  <a:pt x="177" y="122"/>
                </a:lnTo>
                <a:lnTo>
                  <a:pt x="182" y="135"/>
                </a:lnTo>
                <a:lnTo>
                  <a:pt x="185" y="148"/>
                </a:lnTo>
                <a:lnTo>
                  <a:pt x="188" y="161"/>
                </a:lnTo>
                <a:lnTo>
                  <a:pt x="189" y="174"/>
                </a:lnTo>
                <a:lnTo>
                  <a:pt x="190" y="188"/>
                </a:lnTo>
                <a:lnTo>
                  <a:pt x="190" y="201"/>
                </a:lnTo>
                <a:lnTo>
                  <a:pt x="188" y="215"/>
                </a:lnTo>
              </a:path>
            </a:pathLst>
          </a:custGeom>
          <a:noFill/>
          <a:ln w="95250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5742" y="1691449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Poppins"/>
              </a:rPr>
              <a:t>North  51 loads</a:t>
            </a:r>
          </a:p>
        </p:txBody>
      </p:sp>
      <p:sp>
        <p:nvSpPr>
          <p:cNvPr id="26" name="Freeform 25"/>
          <p:cNvSpPr/>
          <p:nvPr/>
        </p:nvSpPr>
        <p:spPr>
          <a:xfrm>
            <a:off x="3133725" y="3409950"/>
            <a:ext cx="2733675" cy="1447800"/>
          </a:xfrm>
          <a:custGeom>
            <a:avLst/>
            <a:gdLst/>
            <a:ahLst/>
            <a:cxnLst/>
            <a:rect l="l" t="t" r="r" b="b"/>
            <a:pathLst>
              <a:path w="287" h="152">
                <a:moveTo>
                  <a:pt x="287" y="0"/>
                </a:moveTo>
                <a:lnTo>
                  <a:pt x="284" y="14"/>
                </a:lnTo>
                <a:lnTo>
                  <a:pt x="279" y="29"/>
                </a:lnTo>
                <a:lnTo>
                  <a:pt x="273" y="43"/>
                </a:lnTo>
                <a:lnTo>
                  <a:pt x="266" y="57"/>
                </a:lnTo>
                <a:lnTo>
                  <a:pt x="258" y="70"/>
                </a:lnTo>
                <a:lnTo>
                  <a:pt x="248" y="82"/>
                </a:lnTo>
                <a:lnTo>
                  <a:pt x="238" y="93"/>
                </a:lnTo>
                <a:lnTo>
                  <a:pt x="227" y="104"/>
                </a:lnTo>
                <a:lnTo>
                  <a:pt x="215" y="114"/>
                </a:lnTo>
                <a:lnTo>
                  <a:pt x="203" y="122"/>
                </a:lnTo>
                <a:lnTo>
                  <a:pt x="190" y="130"/>
                </a:lnTo>
                <a:lnTo>
                  <a:pt x="176" y="137"/>
                </a:lnTo>
                <a:lnTo>
                  <a:pt x="162" y="142"/>
                </a:lnTo>
                <a:lnTo>
                  <a:pt x="147" y="146"/>
                </a:lnTo>
                <a:lnTo>
                  <a:pt x="132" y="149"/>
                </a:lnTo>
                <a:lnTo>
                  <a:pt x="117" y="151"/>
                </a:lnTo>
                <a:lnTo>
                  <a:pt x="101" y="152"/>
                </a:lnTo>
                <a:lnTo>
                  <a:pt x="86" y="151"/>
                </a:lnTo>
                <a:lnTo>
                  <a:pt x="71" y="150"/>
                </a:lnTo>
                <a:lnTo>
                  <a:pt x="56" y="147"/>
                </a:lnTo>
                <a:lnTo>
                  <a:pt x="41" y="142"/>
                </a:lnTo>
                <a:lnTo>
                  <a:pt x="27" y="137"/>
                </a:lnTo>
                <a:lnTo>
                  <a:pt x="13" y="130"/>
                </a:lnTo>
                <a:lnTo>
                  <a:pt x="0" y="123"/>
                </a:lnTo>
              </a:path>
            </a:pathLst>
          </a:custGeom>
          <a:noFill/>
          <a:ln w="95250">
            <a:solidFill>
              <a:srgbClr val="299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0893" y="4759833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Poppins"/>
              </a:rPr>
              <a:t>Central  58</a:t>
            </a:r>
          </a:p>
        </p:txBody>
      </p:sp>
      <p:sp>
        <p:nvSpPr>
          <p:cNvPr id="28" name="Freeform 27"/>
          <p:cNvSpPr/>
          <p:nvPr/>
        </p:nvSpPr>
        <p:spPr>
          <a:xfrm>
            <a:off x="2286000" y="2819400"/>
            <a:ext cx="742950" cy="1685925"/>
          </a:xfrm>
          <a:custGeom>
            <a:avLst/>
            <a:gdLst/>
            <a:ahLst/>
            <a:cxnLst/>
            <a:rect l="l" t="t" r="r" b="b"/>
            <a:pathLst>
              <a:path w="78" h="177">
                <a:moveTo>
                  <a:pt x="78" y="177"/>
                </a:moveTo>
                <a:lnTo>
                  <a:pt x="71" y="172"/>
                </a:lnTo>
                <a:lnTo>
                  <a:pt x="65" y="167"/>
                </a:lnTo>
                <a:lnTo>
                  <a:pt x="58" y="161"/>
                </a:lnTo>
                <a:lnTo>
                  <a:pt x="52" y="155"/>
                </a:lnTo>
                <a:lnTo>
                  <a:pt x="47" y="149"/>
                </a:lnTo>
                <a:lnTo>
                  <a:pt x="41" y="142"/>
                </a:lnTo>
                <a:lnTo>
                  <a:pt x="36" y="136"/>
                </a:lnTo>
                <a:lnTo>
                  <a:pt x="31" y="129"/>
                </a:lnTo>
                <a:lnTo>
                  <a:pt x="27" y="122"/>
                </a:lnTo>
                <a:lnTo>
                  <a:pt x="23" y="114"/>
                </a:lnTo>
                <a:lnTo>
                  <a:pt x="19" y="107"/>
                </a:lnTo>
                <a:lnTo>
                  <a:pt x="15" y="99"/>
                </a:lnTo>
                <a:lnTo>
                  <a:pt x="12" y="91"/>
                </a:lnTo>
                <a:lnTo>
                  <a:pt x="9" y="83"/>
                </a:lnTo>
                <a:lnTo>
                  <a:pt x="7" y="75"/>
                </a:lnTo>
                <a:lnTo>
                  <a:pt x="5" y="67"/>
                </a:lnTo>
                <a:lnTo>
                  <a:pt x="3" y="59"/>
                </a:lnTo>
                <a:lnTo>
                  <a:pt x="2" y="50"/>
                </a:lnTo>
                <a:lnTo>
                  <a:pt x="1" y="42"/>
                </a:lnTo>
                <a:lnTo>
                  <a:pt x="0" y="33"/>
                </a:lnTo>
                <a:lnTo>
                  <a:pt x="0" y="25"/>
                </a:lnTo>
                <a:lnTo>
                  <a:pt x="0" y="17"/>
                </a:lnTo>
                <a:lnTo>
                  <a:pt x="1" y="8"/>
                </a:lnTo>
                <a:lnTo>
                  <a:pt x="2" y="0"/>
                </a:lnTo>
              </a:path>
            </a:pathLst>
          </a:custGeom>
          <a:noFill/>
          <a:ln w="95250">
            <a:solidFill>
              <a:srgbClr val="53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-3404711" y="3740277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Poppins"/>
              </a:rPr>
              <a:t>South  32</a:t>
            </a:r>
          </a:p>
        </p:txBody>
      </p:sp>
      <p:sp>
        <p:nvSpPr>
          <p:cNvPr id="30" name="Freeform 29"/>
          <p:cNvSpPr/>
          <p:nvPr/>
        </p:nvSpPr>
        <p:spPr>
          <a:xfrm>
            <a:off x="2324100" y="1562100"/>
            <a:ext cx="742950" cy="1133475"/>
          </a:xfrm>
          <a:custGeom>
            <a:avLst/>
            <a:gdLst/>
            <a:ahLst/>
            <a:cxnLst/>
            <a:rect l="l" t="t" r="r" b="b"/>
            <a:pathLst>
              <a:path w="78" h="119">
                <a:moveTo>
                  <a:pt x="0" y="119"/>
                </a:moveTo>
                <a:lnTo>
                  <a:pt x="1" y="113"/>
                </a:lnTo>
                <a:lnTo>
                  <a:pt x="2" y="107"/>
                </a:lnTo>
                <a:lnTo>
                  <a:pt x="4" y="101"/>
                </a:lnTo>
                <a:lnTo>
                  <a:pt x="6" y="95"/>
                </a:lnTo>
                <a:lnTo>
                  <a:pt x="8" y="90"/>
                </a:lnTo>
                <a:lnTo>
                  <a:pt x="10" y="84"/>
                </a:lnTo>
                <a:lnTo>
                  <a:pt x="13" y="78"/>
                </a:lnTo>
                <a:lnTo>
                  <a:pt x="15" y="73"/>
                </a:lnTo>
                <a:lnTo>
                  <a:pt x="18" y="67"/>
                </a:lnTo>
                <a:lnTo>
                  <a:pt x="21" y="62"/>
                </a:lnTo>
                <a:lnTo>
                  <a:pt x="24" y="57"/>
                </a:lnTo>
                <a:lnTo>
                  <a:pt x="27" y="52"/>
                </a:lnTo>
                <a:lnTo>
                  <a:pt x="31" y="47"/>
                </a:lnTo>
                <a:lnTo>
                  <a:pt x="34" y="42"/>
                </a:lnTo>
                <a:lnTo>
                  <a:pt x="38" y="37"/>
                </a:lnTo>
                <a:lnTo>
                  <a:pt x="42" y="32"/>
                </a:lnTo>
                <a:lnTo>
                  <a:pt x="46" y="28"/>
                </a:lnTo>
                <a:lnTo>
                  <a:pt x="50" y="23"/>
                </a:lnTo>
                <a:lnTo>
                  <a:pt x="54" y="19"/>
                </a:lnTo>
                <a:lnTo>
                  <a:pt x="59" y="15"/>
                </a:lnTo>
                <a:lnTo>
                  <a:pt x="63" y="11"/>
                </a:lnTo>
                <a:lnTo>
                  <a:pt x="68" y="7"/>
                </a:lnTo>
                <a:lnTo>
                  <a:pt x="73" y="3"/>
                </a:lnTo>
                <a:lnTo>
                  <a:pt x="78" y="0"/>
                </a:lnTo>
              </a:path>
            </a:pathLst>
          </a:custGeom>
          <a:noFill/>
          <a:ln w="95250">
            <a:solidFill>
              <a:srgbClr val="7C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-3243453" y="190709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Poppins"/>
              </a:rPr>
              <a:t>East  23</a:t>
            </a:r>
          </a:p>
        </p:txBody>
      </p:sp>
      <p:sp>
        <p:nvSpPr>
          <p:cNvPr id="32" name="Freeform 31"/>
          <p:cNvSpPr/>
          <p:nvPr/>
        </p:nvSpPr>
        <p:spPr>
          <a:xfrm>
            <a:off x="3171825" y="1238250"/>
            <a:ext cx="800100" cy="257175"/>
          </a:xfrm>
          <a:custGeom>
            <a:avLst/>
            <a:gdLst/>
            <a:ahLst/>
            <a:cxnLst/>
            <a:rect l="l" t="t" r="r" b="b"/>
            <a:pathLst>
              <a:path w="84" h="27">
                <a:moveTo>
                  <a:pt x="0" y="27"/>
                </a:moveTo>
                <a:lnTo>
                  <a:pt x="3" y="25"/>
                </a:lnTo>
                <a:lnTo>
                  <a:pt x="6" y="23"/>
                </a:lnTo>
                <a:lnTo>
                  <a:pt x="10" y="21"/>
                </a:lnTo>
                <a:lnTo>
                  <a:pt x="13" y="20"/>
                </a:lnTo>
                <a:lnTo>
                  <a:pt x="16" y="18"/>
                </a:lnTo>
                <a:lnTo>
                  <a:pt x="20" y="17"/>
                </a:lnTo>
                <a:lnTo>
                  <a:pt x="23" y="15"/>
                </a:lnTo>
                <a:lnTo>
                  <a:pt x="26" y="14"/>
                </a:lnTo>
                <a:lnTo>
                  <a:pt x="30" y="12"/>
                </a:lnTo>
                <a:lnTo>
                  <a:pt x="33" y="11"/>
                </a:lnTo>
                <a:lnTo>
                  <a:pt x="37" y="10"/>
                </a:lnTo>
                <a:lnTo>
                  <a:pt x="40" y="9"/>
                </a:lnTo>
                <a:lnTo>
                  <a:pt x="44" y="8"/>
                </a:lnTo>
                <a:lnTo>
                  <a:pt x="47" y="7"/>
                </a:lnTo>
                <a:lnTo>
                  <a:pt x="51" y="6"/>
                </a:lnTo>
                <a:lnTo>
                  <a:pt x="55" y="5"/>
                </a:lnTo>
                <a:lnTo>
                  <a:pt x="58" y="4"/>
                </a:lnTo>
                <a:lnTo>
                  <a:pt x="62" y="3"/>
                </a:lnTo>
                <a:lnTo>
                  <a:pt x="65" y="3"/>
                </a:lnTo>
                <a:lnTo>
                  <a:pt x="69" y="2"/>
                </a:lnTo>
                <a:lnTo>
                  <a:pt x="73" y="2"/>
                </a:lnTo>
                <a:lnTo>
                  <a:pt x="76" y="1"/>
                </a:lnTo>
                <a:lnTo>
                  <a:pt x="80" y="1"/>
                </a:lnTo>
                <a:lnTo>
                  <a:pt x="84" y="0"/>
                </a:lnTo>
              </a:path>
            </a:pathLst>
          </a:custGeom>
          <a:noFill/>
          <a:ln w="95250">
            <a:solidFill>
              <a:srgbClr val="A6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-2199417" y="1119187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Poppins"/>
              </a:rPr>
              <a:t>West 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