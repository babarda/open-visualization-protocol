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RFSU holds on 30 November; grid energization is the critical driver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71800"/>
            <a:ext cx="7315200" cy="0"/>
          </a:xfrm>
          <a:prstGeom prst="line">
            <a:avLst/>
          </a:prstGeom>
          <a:ln w="19050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51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JAN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31051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Poppins"/>
              </a:rPr>
              <a:t>NOV 2026</a:t>
            </a:r>
          </a:p>
        </p:txBody>
      </p:sp>
      <p:sp>
        <p:nvSpPr>
          <p:cNvPr id="7" name="Oval 6"/>
          <p:cNvSpPr/>
          <p:nvPr/>
        </p:nvSpPr>
        <p:spPr>
          <a:xfrm>
            <a:off x="1149858" y="2914650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207008" y="2590800"/>
            <a:ext cx="0" cy="28575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23050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Poppins"/>
              </a:rPr>
              <a:t>Kickoff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46697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12 Jan</a:t>
            </a:r>
          </a:p>
        </p:txBody>
      </p:sp>
      <p:sp>
        <p:nvSpPr>
          <p:cNvPr id="11" name="Freeform 10"/>
          <p:cNvSpPr/>
          <p:nvPr/>
        </p:nvSpPr>
        <p:spPr>
          <a:xfrm>
            <a:off x="44958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8" y="0"/>
                </a:moveTo>
                <a:lnTo>
                  <a:pt x="16" y="8"/>
                </a:lnTo>
                <a:lnTo>
                  <a:pt x="8" y="16"/>
                </a:lnTo>
                <a:lnTo>
                  <a:pt x="0" y="8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572000" y="3067050"/>
            <a:ext cx="0" cy="28575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14500" y="34671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Poppins"/>
              </a:rPr>
              <a:t>Mechanical completion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362902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15 Jun</a:t>
            </a:r>
          </a:p>
        </p:txBody>
      </p:sp>
      <p:sp>
        <p:nvSpPr>
          <p:cNvPr id="15" name="Freeform 14"/>
          <p:cNvSpPr/>
          <p:nvPr/>
        </p:nvSpPr>
        <p:spPr>
          <a:xfrm>
            <a:off x="59626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8" y="0"/>
                </a:moveTo>
                <a:lnTo>
                  <a:pt x="16" y="8"/>
                </a:lnTo>
                <a:lnTo>
                  <a:pt x="8" y="16"/>
                </a:lnTo>
                <a:lnTo>
                  <a:pt x="0" y="8"/>
                </a:lnTo>
                <a:close/>
              </a:path>
            </a:pathLst>
          </a:cu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6035040" y="2590800"/>
            <a:ext cx="0" cy="28575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77540" y="23050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Poppins"/>
              </a:rPr>
              <a:t>Grid energization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7540" y="246697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22 Aug</a:t>
            </a:r>
          </a:p>
        </p:txBody>
      </p:sp>
      <p:sp>
        <p:nvSpPr>
          <p:cNvPr id="19" name="Freeform 18"/>
          <p:cNvSpPr/>
          <p:nvPr/>
        </p:nvSpPr>
        <p:spPr>
          <a:xfrm>
            <a:off x="68389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8" y="0"/>
                </a:moveTo>
                <a:lnTo>
                  <a:pt x="16" y="8"/>
                </a:lnTo>
                <a:lnTo>
                  <a:pt x="8" y="16"/>
                </a:lnTo>
                <a:lnTo>
                  <a:pt x="0" y="8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912864" y="3067050"/>
            <a:ext cx="0" cy="28575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55364" y="34671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Poppins"/>
              </a:rPr>
              <a:t>Loop tests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5364" y="362902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30 Sep</a:t>
            </a:r>
          </a:p>
        </p:txBody>
      </p:sp>
      <p:sp>
        <p:nvSpPr>
          <p:cNvPr id="23" name="Freeform 22"/>
          <p:cNvSpPr/>
          <p:nvPr/>
        </p:nvSpPr>
        <p:spPr>
          <a:xfrm>
            <a:off x="81534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8" y="0"/>
                </a:moveTo>
                <a:lnTo>
                  <a:pt x="16" y="8"/>
                </a:lnTo>
                <a:lnTo>
                  <a:pt x="8" y="16"/>
                </a:lnTo>
                <a:lnTo>
                  <a:pt x="0" y="8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8229600" y="2590800"/>
            <a:ext cx="0" cy="28575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14600" y="230505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RFSU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46697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555555"/>
                </a:solidFill>
                <a:latin typeface="Poppins"/>
              </a:rPr>
              <a:t>30 Nov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