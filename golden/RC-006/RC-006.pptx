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3C4A5A"/>
                </a:solidFill>
                <a:latin typeface="Segoe UI"/>
              </a:rPr>
              <a:t>DIAGNOSTIC READOUT . WEEK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3400"/>
            <a:ext cx="57150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B1F35"/>
                </a:solidFill>
                <a:latin typeface="Georgia"/>
              </a:rPr>
              <a:t>Piping alone matches the next four sections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5187"/>
            <a:ext cx="7239000" cy="40719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25650" y="1830387"/>
            <a:ext cx="4886325" cy="2413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2619375" y="188731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1">
                <a:solidFill>
                  <a:srgbClr val="3C4A5A"/>
                </a:solidFill>
                <a:latin typeface="Segoe UI"/>
              </a:rPr>
              <a:t>Electrical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2300" y="188731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70" b="1">
                <a:solidFill>
                  <a:srgbClr val="0B1F35"/>
                </a:solidFill>
                <a:latin typeface="Segoe UI"/>
              </a:rPr>
              <a:t>34 items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5650" y="2192337"/>
            <a:ext cx="4024054" cy="241300"/>
          </a:xfrm>
          <a:prstGeom prst="rect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2619375" y="224926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0">
                <a:solidFill>
                  <a:srgbClr val="3C4A5A"/>
                </a:solidFill>
                <a:latin typeface="Segoe UI"/>
              </a:rPr>
              <a:t>Mechanical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0029" y="224926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B1F35"/>
                </a:solidFill>
                <a:latin typeface="Segoe UI"/>
              </a:rPr>
              <a:t>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25650" y="2554287"/>
            <a:ext cx="3018059" cy="241300"/>
          </a:xfrm>
          <a:prstGeom prst="rect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2619375" y="261121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0">
                <a:solidFill>
                  <a:srgbClr val="3C4A5A"/>
                </a:solidFill>
                <a:latin typeface="Segoe UI"/>
              </a:rPr>
              <a:t>Piping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4034" y="261121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B1F35"/>
                </a:solidFill>
                <a:latin typeface="Segoe UI"/>
              </a:rPr>
              <a:t>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25650" y="2916237"/>
            <a:ext cx="2443162" cy="241300"/>
          </a:xfrm>
          <a:prstGeom prst="rect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-2619375" y="297316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0">
                <a:solidFill>
                  <a:srgbClr val="3C4A5A"/>
                </a:solidFill>
                <a:latin typeface="Segoe UI"/>
              </a:rPr>
              <a:t>Instrumentation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137" y="297316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B1F35"/>
                </a:solidFill>
                <a:latin typeface="Segoe UI"/>
              </a:rPr>
              <a:t>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5650" y="3278187"/>
            <a:ext cx="1293443" cy="241300"/>
          </a:xfrm>
          <a:prstGeom prst="rect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-2619375" y="333511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0">
                <a:solidFill>
                  <a:srgbClr val="3C4A5A"/>
                </a:solidFill>
                <a:latin typeface="Segoe UI"/>
              </a:rPr>
              <a:t>Civil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9418" y="3335119"/>
            <a:ext cx="4524375" cy="1470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B1F35"/>
                </a:solidFill>
                <a:latin typeface="Segoe UI"/>
              </a:rPr>
              <a:t>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25650" y="1770062"/>
            <a:ext cx="0" cy="1809750"/>
          </a:xfrm>
          <a:prstGeom prst="line">
            <a:avLst/>
          </a:prstGeom>
          <a:ln w="7540">
            <a:solidFill>
              <a:srgbClr val="C7D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096250" y="1619250"/>
            <a:ext cx="36385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6250" y="1619250"/>
            <a:ext cx="381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8650" y="17049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0B1F35"/>
                </a:solidFill>
                <a:latin typeface="Segoe UI"/>
              </a:rPr>
              <a:t>Finding: 34 items is the lever.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8650" y="18764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C4A5A"/>
                </a:solidFill>
                <a:latin typeface="Segoe UI"/>
              </a:rPr>
              <a:t>Alternative checked: age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8650" y="20478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C4A5A"/>
                </a:solidFill>
                <a:latin typeface="Segoe UI"/>
              </a:rPr>
              <a:t>is not the driver.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0" y="265747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1">
                <a:solidFill>
                  <a:srgbClr val="3C4A5A"/>
                </a:solidFill>
                <a:latin typeface="Segoe UI"/>
              </a:rPr>
              <a:t>OPEN 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0" y="2781300"/>
            <a:ext cx="57150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>
                <a:solidFill>
                  <a:srgbClr val="2251FF"/>
                </a:solidFill>
                <a:latin typeface="Georgia"/>
              </a:rPr>
              <a:t>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0" y="34099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C4A5A"/>
                </a:solidFill>
                <a:latin typeface="Segoe UI"/>
              </a:rPr>
              <a:t>across five sections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6250" y="4000500"/>
            <a:ext cx="1809750" cy="381000"/>
          </a:xfrm>
          <a:prstGeom prst="rect">
            <a:avLst/>
          </a:prstGeom>
          <a:noFill/>
          <a:ln w="19050">
            <a:solidFill>
              <a:srgbClr val="3C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4350" y="4038600"/>
            <a:ext cx="1733550" cy="304800"/>
          </a:xfrm>
          <a:prstGeom prst="rect">
            <a:avLst/>
          </a:prstGeom>
          <a:noFill/>
          <a:ln w="9525">
            <a:solidFill>
              <a:srgbClr val="3C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3625" y="41105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3C4A5A"/>
                </a:solidFill>
                <a:latin typeface="Segoe UI"/>
              </a:rPr>
              <a:t>EVIDENCE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8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3C4A5A"/>
                </a:solidFill>
                <a:latin typeface="Segoe UI"/>
              </a:rPr>
              <a:t>Source: sample dataset v1, 2026-07-12 . told as NR-02 analyst readout, no 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