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9100"/>
            <a:ext cx="5715000" cy="4000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22222"/>
                </a:solidFill>
                <a:latin typeface="Rethink Sans"/>
              </a:rPr>
              <a:t>Delivered goods reached 1,284 in week 28, 90% of all items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90600"/>
            <a:ext cx="1905000" cy="876300"/>
          </a:xfrm>
          <a:prstGeom prst="rect">
            <a:avLst/>
          </a:prstGeom>
          <a:solidFill>
            <a:srgbClr val="F7FAFA"/>
          </a:solidFill>
          <a:ln w="9525">
            <a:solidFill>
              <a:srgbClr val="E2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0550" y="11239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555555"/>
                </a:solidFill>
                <a:latin typeface="Poppins"/>
              </a:rPr>
              <a:t>DELIVERED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0550" y="1238250"/>
            <a:ext cx="5715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8080"/>
                </a:solidFill>
                <a:latin typeface="Poppins"/>
              </a:rPr>
              <a:t>1,284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0550" y="162877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339966"/>
                </a:solidFill>
                <a:latin typeface="Poppins"/>
              </a:rPr>
              <a:t>+179 vs W27</a:t>
            </a:r>
          </a:p>
        </p:txBody>
      </p:sp>
      <p:sp>
        <p:nvSpPr>
          <p:cNvPr id="8" name="Rectangle 7"/>
          <p:cNvSpPr/>
          <p:nvPr/>
        </p:nvSpPr>
        <p:spPr>
          <a:xfrm>
            <a:off x="2552700" y="990600"/>
            <a:ext cx="1905000" cy="876300"/>
          </a:xfrm>
          <a:prstGeom prst="rect">
            <a:avLst/>
          </a:prstGeom>
          <a:solidFill>
            <a:srgbClr val="F7FAFA"/>
          </a:solidFill>
          <a:ln w="9525">
            <a:solidFill>
              <a:srgbClr val="E2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86050" y="11239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555555"/>
                </a:solidFill>
                <a:latin typeface="Poppins"/>
              </a:rPr>
              <a:t>IN TRANSIT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6050" y="1238250"/>
            <a:ext cx="5715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8080"/>
                </a:solidFill>
                <a:latin typeface="Poppins"/>
              </a:rPr>
              <a:t>96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6050" y="162877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-2 vs W27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48200" y="990600"/>
            <a:ext cx="1905000" cy="876300"/>
          </a:xfrm>
          <a:prstGeom prst="rect">
            <a:avLst/>
          </a:prstGeom>
          <a:solidFill>
            <a:srgbClr val="F7FAFA"/>
          </a:solidFill>
          <a:ln w="9525">
            <a:solidFill>
              <a:srgbClr val="E2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81550" y="1123950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555555"/>
                </a:solidFill>
                <a:latin typeface="Poppins"/>
              </a:rPr>
              <a:t>PENDING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81550" y="1238250"/>
            <a:ext cx="5715000" cy="4572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2400" b="1">
                <a:solidFill>
                  <a:srgbClr val="008080"/>
                </a:solidFill>
                <a:latin typeface="Poppins"/>
              </a:rPr>
              <a:t>41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81550" y="162877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339966"/>
                </a:solidFill>
                <a:latin typeface="Poppins"/>
              </a:rPr>
              <a:t>-13 vs W27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1516380"/>
            <a:ext cx="7315200" cy="4114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" name="Connector 16"/>
          <p:cNvCxnSpPr/>
          <p:nvPr/>
        </p:nvCxnSpPr>
        <p:spPr>
          <a:xfrm>
            <a:off x="1188720" y="4960620"/>
            <a:ext cx="5029200" cy="0"/>
          </a:xfrm>
          <a:prstGeom prst="line">
            <a:avLst/>
          </a:prstGeom>
          <a:ln w="7620">
            <a:solidFill>
              <a:srgbClr val="E2E8E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-3474720" y="4906136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60" b="0">
                <a:solidFill>
                  <a:srgbClr val="555555"/>
                </a:solidFill>
                <a:latin typeface="Poppins"/>
              </a:rPr>
              <a:t>0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88720" y="4343400"/>
            <a:ext cx="5029200" cy="0"/>
          </a:xfrm>
          <a:prstGeom prst="line">
            <a:avLst/>
          </a:prstGeom>
          <a:ln w="762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-3474720" y="4288917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60" b="0">
                <a:solidFill>
                  <a:srgbClr val="555555"/>
                </a:solidFill>
                <a:latin typeface="Poppins"/>
              </a:rPr>
              <a:t>20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188720" y="3726180"/>
            <a:ext cx="5029200" cy="0"/>
          </a:xfrm>
          <a:prstGeom prst="line">
            <a:avLst/>
          </a:prstGeom>
          <a:ln w="762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-3474720" y="3671696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60" b="0">
                <a:solidFill>
                  <a:srgbClr val="555555"/>
                </a:solidFill>
                <a:latin typeface="Poppins"/>
              </a:rPr>
              <a:t>40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88720" y="3108960"/>
            <a:ext cx="5029200" cy="0"/>
          </a:xfrm>
          <a:prstGeom prst="line">
            <a:avLst/>
          </a:prstGeom>
          <a:ln w="762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-3474720" y="3054476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60" b="0">
                <a:solidFill>
                  <a:srgbClr val="555555"/>
                </a:solidFill>
                <a:latin typeface="Poppins"/>
              </a:rPr>
              <a:t>60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188720" y="2491740"/>
            <a:ext cx="5029200" cy="0"/>
          </a:xfrm>
          <a:prstGeom prst="line">
            <a:avLst/>
          </a:prstGeom>
          <a:ln w="7620">
            <a:solidFill>
              <a:srgbClr val="EAEAE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-3474720" y="2437257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660" b="0">
                <a:solidFill>
                  <a:srgbClr val="555555"/>
                </a:solidFill>
                <a:latin typeface="Poppins"/>
              </a:rPr>
              <a:t>80%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-1097280" y="5029200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555555"/>
                </a:solidFill>
                <a:latin typeface="Poppins"/>
              </a:rPr>
              <a:t>Jan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-378790" y="5029200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555555"/>
                </a:solidFill>
                <a:latin typeface="Poppins"/>
              </a:rPr>
              <a:t>Feb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9623" y="5029200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555555"/>
                </a:solidFill>
                <a:latin typeface="Poppins"/>
              </a:rPr>
              <a:t>Mar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8113" y="5029200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555555"/>
                </a:solidFill>
                <a:latin typeface="Poppins"/>
              </a:rPr>
              <a:t>Apr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76526" y="5029200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555555"/>
                </a:solidFill>
                <a:latin typeface="Poppins"/>
              </a:rPr>
              <a:t>May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495016" y="5029200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555555"/>
                </a:solidFill>
                <a:latin typeface="Poppins"/>
              </a:rPr>
              <a:t>Jun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13430" y="5029200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555555"/>
                </a:solidFill>
                <a:latin typeface="Poppins"/>
              </a:rPr>
              <a:t>Jul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31920" y="5029200"/>
            <a:ext cx="4572000" cy="12573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660" b="0">
                <a:solidFill>
                  <a:srgbClr val="555555"/>
                </a:solidFill>
                <a:latin typeface="Poppins"/>
              </a:rPr>
              <a:t>Aug</a:t>
            </a:r>
          </a:p>
        </p:txBody>
      </p:sp>
      <p:sp>
        <p:nvSpPr>
          <p:cNvPr id="35" name="Freeform 34"/>
          <p:cNvSpPr/>
          <p:nvPr/>
        </p:nvSpPr>
        <p:spPr>
          <a:xfrm>
            <a:off x="1190625" y="2743200"/>
            <a:ext cx="5029200" cy="2095500"/>
          </a:xfrm>
          <a:custGeom>
            <a:avLst/>
            <a:gdLst/>
            <a:ahLst/>
            <a:cxnLst/>
            <a:rect l="l" t="t" r="r" b="b"/>
            <a:pathLst>
              <a:path w="528" h="220">
                <a:moveTo>
                  <a:pt x="0" y="220"/>
                </a:moveTo>
                <a:lnTo>
                  <a:pt x="75" y="200"/>
                </a:lnTo>
                <a:lnTo>
                  <a:pt x="151" y="171"/>
                </a:lnTo>
                <a:lnTo>
                  <a:pt x="226" y="136"/>
                </a:lnTo>
                <a:lnTo>
                  <a:pt x="302" y="97"/>
                </a:lnTo>
                <a:lnTo>
                  <a:pt x="377" y="58"/>
                </a:lnTo>
                <a:lnTo>
                  <a:pt x="452" y="25"/>
                </a:lnTo>
                <a:lnTo>
                  <a:pt x="528" y="0"/>
                </a:lnTo>
              </a:path>
            </a:pathLst>
          </a:custGeom>
          <a:noFill/>
          <a:ln w="15240">
            <a:solidFill>
              <a:srgbClr val="AAAAA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294120" y="2674239"/>
            <a:ext cx="4572000" cy="1485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0">
                <a:solidFill>
                  <a:srgbClr val="555555"/>
                </a:solidFill>
                <a:latin typeface="Poppins"/>
              </a:rPr>
              <a:t>Plan</a:t>
            </a:r>
          </a:p>
        </p:txBody>
      </p:sp>
      <p:sp>
        <p:nvSpPr>
          <p:cNvPr id="37" name="Freeform 36"/>
          <p:cNvSpPr/>
          <p:nvPr/>
        </p:nvSpPr>
        <p:spPr>
          <a:xfrm>
            <a:off x="1190625" y="3019425"/>
            <a:ext cx="5029200" cy="1847850"/>
          </a:xfrm>
          <a:custGeom>
            <a:avLst/>
            <a:gdLst/>
            <a:ahLst/>
            <a:cxnLst/>
            <a:rect l="l" t="t" r="r" b="b"/>
            <a:pathLst>
              <a:path w="528" h="194">
                <a:moveTo>
                  <a:pt x="0" y="194"/>
                </a:moveTo>
                <a:lnTo>
                  <a:pt x="75" y="178"/>
                </a:lnTo>
                <a:lnTo>
                  <a:pt x="151" y="152"/>
                </a:lnTo>
                <a:lnTo>
                  <a:pt x="226" y="120"/>
                </a:lnTo>
                <a:lnTo>
                  <a:pt x="302" y="87"/>
                </a:lnTo>
                <a:lnTo>
                  <a:pt x="377" y="55"/>
                </a:lnTo>
                <a:lnTo>
                  <a:pt x="452" y="26"/>
                </a:lnTo>
                <a:lnTo>
                  <a:pt x="528" y="0"/>
                </a:lnTo>
              </a:path>
            </a:pathLst>
          </a:custGeom>
          <a:noFill/>
          <a:ln w="19050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94120" y="2951988"/>
            <a:ext cx="4572000" cy="14859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80" b="1">
                <a:solidFill>
                  <a:srgbClr val="008080"/>
                </a:solidFill>
                <a:latin typeface="Poppins"/>
              </a:rPr>
              <a:t>Actual</a:t>
            </a:r>
          </a:p>
        </p:txBody>
      </p:sp>
      <p:cxnSp>
        <p:nvCxnSpPr>
          <p:cNvPr id="39" name="Connector 38"/>
          <p:cNvCxnSpPr/>
          <p:nvPr/>
        </p:nvCxnSpPr>
        <p:spPr>
          <a:xfrm flipH="1">
            <a:off x="4450080" y="3541014"/>
            <a:ext cx="330936" cy="451866"/>
          </a:xfrm>
          <a:prstGeom prst="line">
            <a:avLst/>
          </a:prstGeom>
          <a:ln w="7620">
            <a:solidFill>
              <a:srgbClr val="55555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-152400" y="3939539"/>
            <a:ext cx="4572000" cy="1371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720" b="0" i="1">
                <a:solidFill>
                  <a:srgbClr val="555555"/>
                </a:solidFill>
                <a:latin typeface="Poppins"/>
              </a:rPr>
              <a:t>slippage steady since May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91500" y="2400300"/>
            <a:ext cx="1619250" cy="228600"/>
          </a:xfrm>
          <a:prstGeom prst="roundRect">
            <a:avLst>
              <a:gd name="adj" fmla="val 16666"/>
            </a:avLst>
          </a:prstGeom>
          <a:noFill/>
          <a:ln w="14287">
            <a:solidFill>
              <a:srgbClr val="E08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258175" y="2486025"/>
            <a:ext cx="57150" cy="57150"/>
          </a:xfrm>
          <a:prstGeom prst="ellipse">
            <a:avLst/>
          </a:prstGeom>
          <a:solidFill>
            <a:srgbClr val="E0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82000" y="245268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222222"/>
                </a:solidFill>
                <a:latin typeface="Poppins"/>
              </a:rPr>
              <a:t>WATCH . CUSTOMS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191500" y="2743200"/>
            <a:ext cx="1619250" cy="228600"/>
          </a:xfrm>
          <a:prstGeom prst="roundRect">
            <a:avLst>
              <a:gd name="adj" fmla="val 16666"/>
            </a:avLst>
          </a:prstGeom>
          <a:noFill/>
          <a:ln w="14287">
            <a:solidFill>
              <a:srgbClr val="0080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258175" y="2828925"/>
            <a:ext cx="57150" cy="57150"/>
          </a:xfrm>
          <a:prstGeom prst="ellipse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82000" y="2795587"/>
            <a:ext cx="5715000" cy="1428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750" b="1">
                <a:solidFill>
                  <a:srgbClr val="222222"/>
                </a:solidFill>
                <a:latin typeface="Poppins"/>
              </a:rPr>
              <a:t>ON TRACK . EHT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191500" y="3200400"/>
            <a:ext cx="3543300" cy="762000"/>
          </a:xfrm>
          <a:prstGeom prst="rect">
            <a:avLst/>
          </a:prstGeom>
          <a:solidFill>
            <a:srgbClr val="F7FAFA"/>
          </a:solidFill>
          <a:ln w="9525">
            <a:solidFill>
              <a:srgbClr val="E2E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191500" y="3200400"/>
            <a:ext cx="38100" cy="762000"/>
          </a:xfrm>
          <a:prstGeom prst="rect">
            <a:avLst/>
          </a:prstGeom>
          <a:solidFill>
            <a:srgbClr val="0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43900" y="328612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1">
                <a:solidFill>
                  <a:srgbClr val="222222"/>
                </a:solidFill>
                <a:latin typeface="Poppins"/>
              </a:rPr>
              <a:t>Slippage steady since May.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43900" y="345757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Poppins"/>
              </a:rPr>
              <a:t>Recovery plan due Wednesday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3900" y="3629025"/>
            <a:ext cx="5715000" cy="1714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Poppins"/>
              </a:rPr>
              <a:t>with the logistics contractor.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448425"/>
            <a:ext cx="5715000" cy="15716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819" b="0">
                <a:solidFill>
                  <a:srgbClr val="555555"/>
                </a:solidFill>
                <a:latin typeface="Poppins"/>
              </a:rPr>
              <a:t>Source: sample dataset v1, 2026-07-12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