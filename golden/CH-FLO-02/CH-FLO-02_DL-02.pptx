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304800"/>
            <a:ext cx="57150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Rethink Sans"/>
              </a:rPr>
              <a:t>Road carries 70 of 130 loads; barge stays marginal</a:t>
            </a:r>
          </a:p>
        </p:txBody>
      </p:sp>
      <p:sp>
        <p:nvSpPr>
          <p:cNvPr id="4" name="Freeform 3"/>
          <p:cNvSpPr/>
          <p:nvPr/>
        </p:nvSpPr>
        <p:spPr>
          <a:xfrm>
            <a:off x="2133600" y="1638300"/>
            <a:ext cx="4876800" cy="0"/>
          </a:xfrm>
          <a:custGeom>
            <a:avLst/>
            <a:gdLst/>
            <a:ahLst/>
            <a:cxnLst/>
            <a:rect l="l" t="t" r="r" b="b"/>
            <a:pathLst>
              <a:path w="512" h="0">
                <a:moveTo>
                  <a:pt x="0" y="0"/>
                </a:moveTo>
                <a:lnTo>
                  <a:pt x="41" y="0"/>
                </a:lnTo>
                <a:lnTo>
                  <a:pt x="79" y="0"/>
                </a:lnTo>
                <a:lnTo>
                  <a:pt x="113" y="0"/>
                </a:lnTo>
                <a:lnTo>
                  <a:pt x="145" y="0"/>
                </a:lnTo>
                <a:lnTo>
                  <a:pt x="174" y="0"/>
                </a:lnTo>
                <a:lnTo>
                  <a:pt x="202" y="0"/>
                </a:lnTo>
                <a:lnTo>
                  <a:pt x="230" y="0"/>
                </a:lnTo>
                <a:lnTo>
                  <a:pt x="256" y="0"/>
                </a:lnTo>
                <a:lnTo>
                  <a:pt x="282" y="0"/>
                </a:lnTo>
                <a:lnTo>
                  <a:pt x="310" y="0"/>
                </a:lnTo>
                <a:lnTo>
                  <a:pt x="338" y="0"/>
                </a:lnTo>
                <a:lnTo>
                  <a:pt x="367" y="0"/>
                </a:lnTo>
                <a:lnTo>
                  <a:pt x="399" y="0"/>
                </a:lnTo>
                <a:lnTo>
                  <a:pt x="433" y="0"/>
                </a:lnTo>
                <a:lnTo>
                  <a:pt x="471" y="0"/>
                </a:lnTo>
                <a:lnTo>
                  <a:pt x="512" y="0"/>
                </a:lnTo>
              </a:path>
            </a:pathLst>
          </a:custGeom>
          <a:noFill/>
          <a:ln w="800100">
            <a:solidFill>
              <a:srgbClr val="0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133600" y="2324100"/>
            <a:ext cx="4876800" cy="933450"/>
          </a:xfrm>
          <a:custGeom>
            <a:avLst/>
            <a:gdLst/>
            <a:ahLst/>
            <a:cxnLst/>
            <a:rect l="l" t="t" r="r" b="b"/>
            <a:pathLst>
              <a:path w="512" h="98">
                <a:moveTo>
                  <a:pt x="0" y="0"/>
                </a:moveTo>
                <a:lnTo>
                  <a:pt x="41" y="1"/>
                </a:lnTo>
                <a:lnTo>
                  <a:pt x="79" y="4"/>
                </a:lnTo>
                <a:lnTo>
                  <a:pt x="113" y="9"/>
                </a:lnTo>
                <a:lnTo>
                  <a:pt x="145" y="15"/>
                </a:lnTo>
                <a:lnTo>
                  <a:pt x="174" y="23"/>
                </a:lnTo>
                <a:lnTo>
                  <a:pt x="202" y="31"/>
                </a:lnTo>
                <a:lnTo>
                  <a:pt x="230" y="40"/>
                </a:lnTo>
                <a:lnTo>
                  <a:pt x="256" y="49"/>
                </a:lnTo>
                <a:lnTo>
                  <a:pt x="282" y="58"/>
                </a:lnTo>
                <a:lnTo>
                  <a:pt x="310" y="67"/>
                </a:lnTo>
                <a:lnTo>
                  <a:pt x="338" y="75"/>
                </a:lnTo>
                <a:lnTo>
                  <a:pt x="367" y="83"/>
                </a:lnTo>
                <a:lnTo>
                  <a:pt x="399" y="89"/>
                </a:lnTo>
                <a:lnTo>
                  <a:pt x="433" y="94"/>
                </a:lnTo>
                <a:lnTo>
                  <a:pt x="471" y="97"/>
                </a:lnTo>
                <a:lnTo>
                  <a:pt x="512" y="98"/>
                </a:lnTo>
              </a:path>
            </a:pathLst>
          </a:custGeom>
          <a:noFill/>
          <a:ln w="571500">
            <a:solidFill>
              <a:srgbClr val="0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2133600" y="2324100"/>
            <a:ext cx="4876800" cy="704850"/>
          </a:xfrm>
          <a:custGeom>
            <a:avLst/>
            <a:gdLst/>
            <a:ahLst/>
            <a:cxnLst/>
            <a:rect l="l" t="t" r="r" b="b"/>
            <a:pathLst>
              <a:path w="512" h="74">
                <a:moveTo>
                  <a:pt x="0" y="74"/>
                </a:moveTo>
                <a:lnTo>
                  <a:pt x="41" y="73"/>
                </a:lnTo>
                <a:lnTo>
                  <a:pt x="79" y="71"/>
                </a:lnTo>
                <a:lnTo>
                  <a:pt x="113" y="67"/>
                </a:lnTo>
                <a:lnTo>
                  <a:pt x="145" y="62"/>
                </a:lnTo>
                <a:lnTo>
                  <a:pt x="174" y="57"/>
                </a:lnTo>
                <a:lnTo>
                  <a:pt x="202" y="51"/>
                </a:lnTo>
                <a:lnTo>
                  <a:pt x="230" y="44"/>
                </a:lnTo>
                <a:lnTo>
                  <a:pt x="256" y="37"/>
                </a:lnTo>
                <a:lnTo>
                  <a:pt x="282" y="30"/>
                </a:lnTo>
                <a:lnTo>
                  <a:pt x="310" y="23"/>
                </a:lnTo>
                <a:lnTo>
                  <a:pt x="338" y="17"/>
                </a:lnTo>
                <a:lnTo>
                  <a:pt x="367" y="12"/>
                </a:lnTo>
                <a:lnTo>
                  <a:pt x="399" y="7"/>
                </a:lnTo>
                <a:lnTo>
                  <a:pt x="433" y="3"/>
                </a:lnTo>
                <a:lnTo>
                  <a:pt x="471" y="1"/>
                </a:lnTo>
                <a:lnTo>
                  <a:pt x="512" y="0"/>
                </a:lnTo>
              </a:path>
            </a:pathLst>
          </a:custGeom>
          <a:noFill/>
          <a:ln w="571500">
            <a:solidFill>
              <a:srgbClr val="0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2133600" y="3486150"/>
            <a:ext cx="4876800" cy="704850"/>
          </a:xfrm>
          <a:custGeom>
            <a:avLst/>
            <a:gdLst/>
            <a:ahLst/>
            <a:cxnLst/>
            <a:rect l="l" t="t" r="r" b="b"/>
            <a:pathLst>
              <a:path w="512" h="74">
                <a:moveTo>
                  <a:pt x="0" y="0"/>
                </a:moveTo>
                <a:lnTo>
                  <a:pt x="41" y="1"/>
                </a:lnTo>
                <a:lnTo>
                  <a:pt x="79" y="3"/>
                </a:lnTo>
                <a:lnTo>
                  <a:pt x="113" y="7"/>
                </a:lnTo>
                <a:lnTo>
                  <a:pt x="145" y="12"/>
                </a:lnTo>
                <a:lnTo>
                  <a:pt x="174" y="17"/>
                </a:lnTo>
                <a:lnTo>
                  <a:pt x="202" y="23"/>
                </a:lnTo>
                <a:lnTo>
                  <a:pt x="230" y="30"/>
                </a:lnTo>
                <a:lnTo>
                  <a:pt x="256" y="37"/>
                </a:lnTo>
                <a:lnTo>
                  <a:pt x="282" y="44"/>
                </a:lnTo>
                <a:lnTo>
                  <a:pt x="310" y="51"/>
                </a:lnTo>
                <a:lnTo>
                  <a:pt x="338" y="57"/>
                </a:lnTo>
                <a:lnTo>
                  <a:pt x="367" y="62"/>
                </a:lnTo>
                <a:lnTo>
                  <a:pt x="399" y="67"/>
                </a:lnTo>
                <a:lnTo>
                  <a:pt x="433" y="71"/>
                </a:lnTo>
                <a:lnTo>
                  <a:pt x="471" y="73"/>
                </a:lnTo>
                <a:lnTo>
                  <a:pt x="512" y="74"/>
                </a:lnTo>
              </a:path>
            </a:pathLst>
          </a:custGeom>
          <a:noFill/>
          <a:ln w="342900">
            <a:solidFill>
              <a:srgbClr val="0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2133600" y="2724150"/>
            <a:ext cx="4876800" cy="1181100"/>
          </a:xfrm>
          <a:custGeom>
            <a:avLst/>
            <a:gdLst/>
            <a:ahLst/>
            <a:cxnLst/>
            <a:rect l="l" t="t" r="r" b="b"/>
            <a:pathLst>
              <a:path w="512" h="124">
                <a:moveTo>
                  <a:pt x="0" y="124"/>
                </a:moveTo>
                <a:lnTo>
                  <a:pt x="41" y="123"/>
                </a:lnTo>
                <a:lnTo>
                  <a:pt x="79" y="119"/>
                </a:lnTo>
                <a:lnTo>
                  <a:pt x="113" y="113"/>
                </a:lnTo>
                <a:lnTo>
                  <a:pt x="145" y="105"/>
                </a:lnTo>
                <a:lnTo>
                  <a:pt x="174" y="95"/>
                </a:lnTo>
                <a:lnTo>
                  <a:pt x="202" y="85"/>
                </a:lnTo>
                <a:lnTo>
                  <a:pt x="230" y="74"/>
                </a:lnTo>
                <a:lnTo>
                  <a:pt x="256" y="62"/>
                </a:lnTo>
                <a:lnTo>
                  <a:pt x="282" y="50"/>
                </a:lnTo>
                <a:lnTo>
                  <a:pt x="310" y="39"/>
                </a:lnTo>
                <a:lnTo>
                  <a:pt x="338" y="29"/>
                </a:lnTo>
                <a:lnTo>
                  <a:pt x="367" y="19"/>
                </a:lnTo>
                <a:lnTo>
                  <a:pt x="399" y="11"/>
                </a:lnTo>
                <a:lnTo>
                  <a:pt x="433" y="5"/>
                </a:lnTo>
                <a:lnTo>
                  <a:pt x="471" y="1"/>
                </a:lnTo>
                <a:lnTo>
                  <a:pt x="512" y="0"/>
                </a:lnTo>
              </a:path>
            </a:pathLst>
          </a:custGeom>
          <a:noFill/>
          <a:ln w="228600">
            <a:solidFill>
              <a:srgbClr val="0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2133600" y="3714750"/>
            <a:ext cx="4876800" cy="476250"/>
          </a:xfrm>
          <a:custGeom>
            <a:avLst/>
            <a:gdLst/>
            <a:ahLst/>
            <a:cxnLst/>
            <a:rect l="l" t="t" r="r" b="b"/>
            <a:pathLst>
              <a:path w="512" h="50">
                <a:moveTo>
                  <a:pt x="0" y="50"/>
                </a:moveTo>
                <a:lnTo>
                  <a:pt x="41" y="49"/>
                </a:lnTo>
                <a:lnTo>
                  <a:pt x="79" y="48"/>
                </a:lnTo>
                <a:lnTo>
                  <a:pt x="113" y="45"/>
                </a:lnTo>
                <a:lnTo>
                  <a:pt x="145" y="42"/>
                </a:lnTo>
                <a:lnTo>
                  <a:pt x="174" y="38"/>
                </a:lnTo>
                <a:lnTo>
                  <a:pt x="202" y="34"/>
                </a:lnTo>
                <a:lnTo>
                  <a:pt x="230" y="30"/>
                </a:lnTo>
                <a:lnTo>
                  <a:pt x="256" y="25"/>
                </a:lnTo>
                <a:lnTo>
                  <a:pt x="282" y="20"/>
                </a:lnTo>
                <a:lnTo>
                  <a:pt x="310" y="16"/>
                </a:lnTo>
                <a:lnTo>
                  <a:pt x="338" y="12"/>
                </a:lnTo>
                <a:lnTo>
                  <a:pt x="367" y="8"/>
                </a:lnTo>
                <a:lnTo>
                  <a:pt x="399" y="5"/>
                </a:lnTo>
                <a:lnTo>
                  <a:pt x="433" y="2"/>
                </a:lnTo>
                <a:lnTo>
                  <a:pt x="471" y="1"/>
                </a:lnTo>
                <a:lnTo>
                  <a:pt x="512" y="0"/>
                </a:lnTo>
              </a:path>
            </a:pathLst>
          </a:custGeom>
          <a:noFill/>
          <a:ln w="342900">
            <a:solidFill>
              <a:srgbClr val="0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2133600" y="4419600"/>
            <a:ext cx="4876800" cy="0"/>
          </a:xfrm>
          <a:custGeom>
            <a:avLst/>
            <a:gdLst/>
            <a:ahLst/>
            <a:cxnLst/>
            <a:rect l="l" t="t" r="r" b="b"/>
            <a:pathLst>
              <a:path w="512" h="0">
                <a:moveTo>
                  <a:pt x="0" y="0"/>
                </a:moveTo>
                <a:lnTo>
                  <a:pt x="41" y="0"/>
                </a:lnTo>
                <a:lnTo>
                  <a:pt x="79" y="0"/>
                </a:lnTo>
                <a:lnTo>
                  <a:pt x="113" y="0"/>
                </a:lnTo>
                <a:lnTo>
                  <a:pt x="145" y="0"/>
                </a:lnTo>
                <a:lnTo>
                  <a:pt x="174" y="0"/>
                </a:lnTo>
                <a:lnTo>
                  <a:pt x="202" y="0"/>
                </a:lnTo>
                <a:lnTo>
                  <a:pt x="230" y="0"/>
                </a:lnTo>
                <a:lnTo>
                  <a:pt x="256" y="0"/>
                </a:lnTo>
                <a:lnTo>
                  <a:pt x="282" y="0"/>
                </a:lnTo>
                <a:lnTo>
                  <a:pt x="310" y="0"/>
                </a:lnTo>
                <a:lnTo>
                  <a:pt x="338" y="0"/>
                </a:lnTo>
                <a:lnTo>
                  <a:pt x="367" y="0"/>
                </a:lnTo>
                <a:lnTo>
                  <a:pt x="399" y="0"/>
                </a:lnTo>
                <a:lnTo>
                  <a:pt x="433" y="0"/>
                </a:lnTo>
                <a:lnTo>
                  <a:pt x="471" y="0"/>
                </a:lnTo>
                <a:lnTo>
                  <a:pt x="512" y="0"/>
                </a:lnTo>
              </a:path>
            </a:pathLst>
          </a:custGeom>
          <a:noFill/>
          <a:ln w="114300">
            <a:solidFill>
              <a:srgbClr val="0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00250" y="1238250"/>
            <a:ext cx="133350" cy="13716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-3790950" y="1849755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Poppins"/>
              </a:rPr>
              <a:t>Supplier A  60 loads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00250" y="2743200"/>
            <a:ext cx="133350" cy="9144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-3790950" y="3126105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Poppins"/>
              </a:rPr>
              <a:t>Supplier B  40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00250" y="3790950"/>
            <a:ext cx="133350" cy="6858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-3790950" y="4059555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Poppins"/>
              </a:rPr>
              <a:t>Supplier C  30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10400" y="1238250"/>
            <a:ext cx="133350" cy="16002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19950" y="1964055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Poppins"/>
              </a:rPr>
              <a:t>Road  70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10400" y="2971800"/>
            <a:ext cx="133350" cy="9144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19950" y="3354705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Poppins"/>
              </a:rPr>
              <a:t>Rail  40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10400" y="4019550"/>
            <a:ext cx="133350" cy="4572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19950" y="4173855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Poppins"/>
              </a:rPr>
              <a:t>Barge  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4800" y="48101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9" b="0">
                <a:solidFill>
                  <a:srgbClr val="555555"/>
                </a:solidFill>
                <a:latin typeface="Poppins"/>
              </a:rPr>
              <a:t>Source: sample dataset v1, 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