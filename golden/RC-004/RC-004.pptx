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EB Garamond"/>
              </a:rPr>
              <a:t>Forecast lands 18 points over budget; logistics drives two thirds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29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1">
                <a:solidFill>
                  <a:srgbClr val="3D3D3D"/>
                </a:solidFill>
                <a:latin typeface="Segoe UI"/>
              </a:rPr>
              <a:t>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6800"/>
            <a:ext cx="5715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08080"/>
                </a:solidFill>
                <a:latin typeface="EB Garamond"/>
              </a:rPr>
              <a:t>118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54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D3D"/>
                </a:solidFill>
                <a:latin typeface="Segoe UI"/>
              </a:rPr>
              <a:t>+18 vs budget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14500"/>
            <a:ext cx="6667500" cy="3750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49" y="3101756"/>
            <a:ext cx="388937" cy="161311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700375" y="2948959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0">
                <a:solidFill>
                  <a:srgbClr val="1A1A1A"/>
                </a:solidFill>
                <a:latin typeface="Segoe UI"/>
              </a:rPr>
              <a:t>100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51856" y="2908190"/>
            <a:ext cx="388937" cy="193565"/>
          </a:xfrm>
          <a:prstGeom prst="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731" y="2755393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0">
                <a:solidFill>
                  <a:srgbClr val="1A1A1A"/>
                </a:solidFill>
                <a:latin typeface="Segoe UI"/>
              </a:rPr>
              <a:t>+12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14962" y="2779146"/>
            <a:ext cx="388937" cy="129043"/>
          </a:xfrm>
          <a:prstGeom prst="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837" y="2626350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0">
                <a:solidFill>
                  <a:srgbClr val="1A1A1A"/>
                </a:solidFill>
                <a:latin typeface="Segoe UI"/>
              </a:rPr>
              <a:t>+8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77999" y="2714625"/>
            <a:ext cx="388937" cy="64521"/>
          </a:xfrm>
          <a:prstGeom prst="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8874" y="2561828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0">
                <a:solidFill>
                  <a:srgbClr val="1A1A1A"/>
                </a:solidFill>
                <a:latin typeface="Segoe UI"/>
              </a:rPr>
              <a:t>+4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1106" y="2714625"/>
            <a:ext cx="388937" cy="9681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1981" y="2561828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0">
                <a:solidFill>
                  <a:srgbClr val="1A1A1A"/>
                </a:solidFill>
                <a:latin typeface="Segoe UI"/>
              </a:rPr>
              <a:t>-6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4212" y="2811442"/>
            <a:ext cx="388937" cy="1903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5087" y="2658645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70" b="1">
                <a:solidFill>
                  <a:srgbClr val="1A1A1A"/>
                </a:solidFill>
                <a:latin typeface="Segoe UI"/>
              </a:rPr>
              <a:t>118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77687" y="3101756"/>
            <a:ext cx="574169" cy="0"/>
          </a:xfrm>
          <a:prstGeom prst="line">
            <a:avLst/>
          </a:prstGeom>
          <a:ln w="6945">
            <a:solidFill>
              <a:srgbClr val="D8D5C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40793" y="2908190"/>
            <a:ext cx="574169" cy="0"/>
          </a:xfrm>
          <a:prstGeom prst="line">
            <a:avLst/>
          </a:prstGeom>
          <a:ln w="6945">
            <a:solidFill>
              <a:srgbClr val="D8D5C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03900" y="2779146"/>
            <a:ext cx="574099" cy="0"/>
          </a:xfrm>
          <a:prstGeom prst="line">
            <a:avLst/>
          </a:prstGeom>
          <a:ln w="6945">
            <a:solidFill>
              <a:srgbClr val="D8D5C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66937" y="2714625"/>
            <a:ext cx="574169" cy="0"/>
          </a:xfrm>
          <a:prstGeom prst="line">
            <a:avLst/>
          </a:prstGeom>
          <a:ln w="6945">
            <a:solidFill>
              <a:srgbClr val="D8D5C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30043" y="2811442"/>
            <a:ext cx="574169" cy="0"/>
          </a:xfrm>
          <a:prstGeom prst="line">
            <a:avLst/>
          </a:prstGeom>
          <a:ln w="6945">
            <a:solidFill>
              <a:srgbClr val="D8D5C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-700375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731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Logistics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837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Rework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8874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FX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1981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Scope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5087" y="4770437"/>
            <a:ext cx="4167187" cy="125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3D3D3D"/>
                </a:solidFill>
                <a:latin typeface="Segoe UI"/>
              </a:rPr>
              <a:t>Forecast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1699" y="4714875"/>
            <a:ext cx="5778500" cy="0"/>
          </a:xfrm>
          <a:prstGeom prst="line">
            <a:avLst/>
          </a:prstGeom>
          <a:ln w="6945">
            <a:solidFill>
              <a:srgbClr val="D8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524750" y="2381250"/>
            <a:ext cx="4210050" cy="685800"/>
          </a:xfrm>
          <a:prstGeom prst="rect">
            <a:avLst/>
          </a:prstGeom>
          <a:solidFill>
            <a:srgbClr val="FAFAF7"/>
          </a:solidFill>
          <a:ln w="9525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24750" y="2381250"/>
            <a:ext cx="38100" cy="685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77150" y="24669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Segoe UI"/>
              </a:rPr>
              <a:t>Decision asked of the board: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7150" y="26384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D3D"/>
                </a:solidFill>
                <a:latin typeface="Segoe UI"/>
              </a:rPr>
              <a:t>resequence deliveries to 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77150" y="28098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D3D"/>
                </a:solidFill>
                <a:latin typeface="Segoe UI"/>
              </a:rPr>
              <a:t>8 points by Q3.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24750" y="3295650"/>
            <a:ext cx="4210050" cy="342900"/>
          </a:xfrm>
          <a:prstGeom prst="rect">
            <a:avLst/>
          </a:prstGeom>
          <a:solidFill>
            <a:srgbClr val="FAFAF7"/>
          </a:solidFill>
          <a:ln w="9525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24750" y="3295650"/>
            <a:ext cx="38100" cy="3429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0000" y="3429000"/>
            <a:ext cx="76200" cy="76200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1450" y="33866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Segoe UI"/>
              </a:rPr>
              <a:t>Logistics carries 12 of 18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6450" y="340518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3D3D3D"/>
                </a:solidFill>
                <a:latin typeface="Segoe UI"/>
              </a:rPr>
              <a:t>LOGISTICS LEAD . FRI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3D3D3D"/>
                </a:solidFill>
                <a:latin typeface="Segoe UI"/>
              </a:rPr>
              <a:t>Source: sample dataset v1, 2026-07-12 . told as NR-01 executive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