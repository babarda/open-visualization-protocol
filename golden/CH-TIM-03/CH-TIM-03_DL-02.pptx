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Monthly output doubled to 412 units in August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4305300"/>
            <a:ext cx="62865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-4914900" y="42371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688080"/>
            <a:ext cx="62865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4914900" y="361997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070860"/>
            <a:ext cx="62865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-4914900" y="300275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200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453640"/>
            <a:ext cx="62865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-4914900" y="238553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300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1836420"/>
            <a:ext cx="62865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4914900" y="176831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400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1219200"/>
            <a:ext cx="62865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-4914900" y="11510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500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94310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044987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Feb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4697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141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Apr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9158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May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727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Jun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5287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Jul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Aug</a:t>
            </a:r>
          </a:p>
        </p:txBody>
      </p:sp>
      <p:sp>
        <p:nvSpPr>
          <p:cNvPr id="24" name="Freeform 23"/>
          <p:cNvSpPr/>
          <p:nvPr/>
        </p:nvSpPr>
        <p:spPr>
          <a:xfrm>
            <a:off x="914400" y="1762125"/>
            <a:ext cx="6286500" cy="2543175"/>
          </a:xfrm>
          <a:custGeom>
            <a:avLst/>
            <a:gdLst/>
            <a:ahLst/>
            <a:cxnLst/>
            <a:rect l="l" t="t" r="r" b="b"/>
            <a:pathLst>
              <a:path w="660" h="267">
                <a:moveTo>
                  <a:pt x="0" y="267"/>
                </a:moveTo>
                <a:lnTo>
                  <a:pt x="0" y="134"/>
                </a:lnTo>
                <a:lnTo>
                  <a:pt x="94" y="119"/>
                </a:lnTo>
                <a:lnTo>
                  <a:pt x="189" y="104"/>
                </a:lnTo>
                <a:lnTo>
                  <a:pt x="283" y="86"/>
                </a:lnTo>
                <a:lnTo>
                  <a:pt x="377" y="72"/>
                </a:lnTo>
                <a:lnTo>
                  <a:pt x="471" y="48"/>
                </a:lnTo>
                <a:lnTo>
                  <a:pt x="566" y="23"/>
                </a:lnTo>
                <a:lnTo>
                  <a:pt x="660" y="0"/>
                </a:lnTo>
                <a:lnTo>
                  <a:pt x="660" y="267"/>
                </a:lnTo>
                <a:close/>
              </a:path>
            </a:pathLst>
          </a:custGeom>
          <a:solidFill>
            <a:srgbClr val="008080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14400" y="1762125"/>
            <a:ext cx="6286500" cy="1276350"/>
          </a:xfrm>
          <a:custGeom>
            <a:avLst/>
            <a:gdLst/>
            <a:ahLst/>
            <a:cxnLst/>
            <a:rect l="l" t="t" r="r" b="b"/>
            <a:pathLst>
              <a:path w="660" h="134">
                <a:moveTo>
                  <a:pt x="0" y="134"/>
                </a:moveTo>
                <a:lnTo>
                  <a:pt x="94" y="119"/>
                </a:lnTo>
                <a:lnTo>
                  <a:pt x="189" y="104"/>
                </a:lnTo>
                <a:lnTo>
                  <a:pt x="283" y="86"/>
                </a:lnTo>
                <a:lnTo>
                  <a:pt x="377" y="72"/>
                </a:lnTo>
                <a:lnTo>
                  <a:pt x="471" y="48"/>
                </a:lnTo>
                <a:lnTo>
                  <a:pt x="566" y="23"/>
                </a:lnTo>
                <a:lnTo>
                  <a:pt x="660" y="0"/>
                </a:lnTo>
              </a:path>
            </a:pathLst>
          </a:custGeom>
          <a:noFill/>
          <a:ln w="23812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150" y="1681829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1">
                <a:solidFill>
                  <a:srgbClr val="008080"/>
                </a:solidFill>
                <a:latin typeface="Poppins"/>
              </a:rPr>
              <a:t>Output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6705600" y="1476375"/>
            <a:ext cx="495300" cy="285940"/>
          </a:xfrm>
          <a:prstGeom prst="line">
            <a:avLst/>
          </a:prstGeom>
          <a:ln w="952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2500" y="14097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Poppins"/>
              </a:rPr>
              <a:t>crosses 400 for the first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