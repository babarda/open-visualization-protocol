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800" y="304800"/>
            <a:ext cx="57150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1">
                <a:solidFill>
                  <a:srgbClr val="222222"/>
                </a:solidFill>
                <a:latin typeface="Rethink Sans"/>
              </a:rPr>
              <a:t>Installation work holds 52% of remaining hours</a:t>
            </a:r>
          </a:p>
        </p:txBody>
      </p:sp>
      <p:sp>
        <p:nvSpPr>
          <p:cNvPr id="4" name="Freeform 3"/>
          <p:cNvSpPr/>
          <p:nvPr/>
        </p:nvSpPr>
        <p:spPr>
          <a:xfrm>
            <a:off x="3962400" y="2000250"/>
            <a:ext cx="1181100" cy="2095500"/>
          </a:xfrm>
          <a:custGeom>
            <a:avLst/>
            <a:gdLst/>
            <a:ahLst/>
            <a:cxnLst/>
            <a:rect l="l" t="t" r="r" b="b"/>
            <a:pathLst>
              <a:path w="124" h="220">
                <a:moveTo>
                  <a:pt x="14" y="0"/>
                </a:moveTo>
                <a:lnTo>
                  <a:pt x="29" y="1"/>
                </a:lnTo>
                <a:lnTo>
                  <a:pt x="44" y="4"/>
                </a:lnTo>
                <a:lnTo>
                  <a:pt x="58" y="9"/>
                </a:lnTo>
                <a:lnTo>
                  <a:pt x="71" y="16"/>
                </a:lnTo>
                <a:lnTo>
                  <a:pt x="83" y="25"/>
                </a:lnTo>
                <a:lnTo>
                  <a:pt x="94" y="35"/>
                </a:lnTo>
                <a:lnTo>
                  <a:pt x="104" y="46"/>
                </a:lnTo>
                <a:lnTo>
                  <a:pt x="111" y="59"/>
                </a:lnTo>
                <a:lnTo>
                  <a:pt x="118" y="73"/>
                </a:lnTo>
                <a:lnTo>
                  <a:pt x="122" y="87"/>
                </a:lnTo>
                <a:lnTo>
                  <a:pt x="124" y="102"/>
                </a:lnTo>
                <a:lnTo>
                  <a:pt x="124" y="117"/>
                </a:lnTo>
                <a:lnTo>
                  <a:pt x="122" y="132"/>
                </a:lnTo>
                <a:lnTo>
                  <a:pt x="118" y="146"/>
                </a:lnTo>
                <a:lnTo>
                  <a:pt x="112" y="160"/>
                </a:lnTo>
                <a:lnTo>
                  <a:pt x="104" y="173"/>
                </a:lnTo>
                <a:lnTo>
                  <a:pt x="95" y="184"/>
                </a:lnTo>
                <a:lnTo>
                  <a:pt x="84" y="195"/>
                </a:lnTo>
                <a:lnTo>
                  <a:pt x="72" y="203"/>
                </a:lnTo>
                <a:lnTo>
                  <a:pt x="59" y="210"/>
                </a:lnTo>
                <a:lnTo>
                  <a:pt x="45" y="216"/>
                </a:lnTo>
                <a:lnTo>
                  <a:pt x="30" y="219"/>
                </a:lnTo>
                <a:lnTo>
                  <a:pt x="15" y="220"/>
                </a:lnTo>
                <a:lnTo>
                  <a:pt x="0" y="219"/>
                </a:lnTo>
                <a:lnTo>
                  <a:pt x="7" y="165"/>
                </a:lnTo>
                <a:lnTo>
                  <a:pt x="15" y="165"/>
                </a:lnTo>
                <a:lnTo>
                  <a:pt x="22" y="164"/>
                </a:lnTo>
                <a:lnTo>
                  <a:pt x="29" y="163"/>
                </a:lnTo>
                <a:lnTo>
                  <a:pt x="36" y="160"/>
                </a:lnTo>
                <a:lnTo>
                  <a:pt x="43" y="157"/>
                </a:lnTo>
                <a:lnTo>
                  <a:pt x="49" y="152"/>
                </a:lnTo>
                <a:lnTo>
                  <a:pt x="54" y="147"/>
                </a:lnTo>
                <a:lnTo>
                  <a:pt x="59" y="141"/>
                </a:lnTo>
                <a:lnTo>
                  <a:pt x="63" y="135"/>
                </a:lnTo>
                <a:lnTo>
                  <a:pt x="66" y="128"/>
                </a:lnTo>
                <a:lnTo>
                  <a:pt x="68" y="121"/>
                </a:lnTo>
                <a:lnTo>
                  <a:pt x="69" y="113"/>
                </a:lnTo>
                <a:lnTo>
                  <a:pt x="69" y="106"/>
                </a:lnTo>
                <a:lnTo>
                  <a:pt x="68" y="99"/>
                </a:lnTo>
                <a:lnTo>
                  <a:pt x="66" y="91"/>
                </a:lnTo>
                <a:lnTo>
                  <a:pt x="63" y="85"/>
                </a:lnTo>
                <a:lnTo>
                  <a:pt x="59" y="78"/>
                </a:lnTo>
                <a:lnTo>
                  <a:pt x="54" y="72"/>
                </a:lnTo>
                <a:lnTo>
                  <a:pt x="49" y="67"/>
                </a:lnTo>
                <a:lnTo>
                  <a:pt x="42" y="63"/>
                </a:lnTo>
                <a:lnTo>
                  <a:pt x="36" y="60"/>
                </a:lnTo>
                <a:lnTo>
                  <a:pt x="29" y="57"/>
                </a:lnTo>
                <a:lnTo>
                  <a:pt x="21" y="56"/>
                </a:lnTo>
                <a:lnTo>
                  <a:pt x="14" y="55"/>
                </a:lnTo>
                <a:close/>
              </a:path>
            </a:pathLst>
          </a:custGeom>
          <a:solidFill>
            <a:srgbClr val="00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22538" y="3029235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Poppins"/>
              </a:rPr>
              <a:t>Install</a:t>
            </a:r>
          </a:p>
        </p:txBody>
      </p:sp>
      <p:sp>
        <p:nvSpPr>
          <p:cNvPr id="6" name="Freeform 5"/>
          <p:cNvSpPr/>
          <p:nvPr/>
        </p:nvSpPr>
        <p:spPr>
          <a:xfrm>
            <a:off x="4095750" y="1381125"/>
            <a:ext cx="1666875" cy="1600200"/>
          </a:xfrm>
          <a:custGeom>
            <a:avLst/>
            <a:gdLst/>
            <a:ahLst/>
            <a:cxnLst/>
            <a:rect l="l" t="t" r="r" b="b"/>
            <a:pathLst>
              <a:path w="175" h="168">
                <a:moveTo>
                  <a:pt x="0" y="0"/>
                </a:moveTo>
                <a:lnTo>
                  <a:pt x="11" y="0"/>
                </a:lnTo>
                <a:lnTo>
                  <a:pt x="22" y="1"/>
                </a:lnTo>
                <a:lnTo>
                  <a:pt x="33" y="3"/>
                </a:lnTo>
                <a:lnTo>
                  <a:pt x="44" y="5"/>
                </a:lnTo>
                <a:lnTo>
                  <a:pt x="54" y="9"/>
                </a:lnTo>
                <a:lnTo>
                  <a:pt x="64" y="12"/>
                </a:lnTo>
                <a:lnTo>
                  <a:pt x="75" y="17"/>
                </a:lnTo>
                <a:lnTo>
                  <a:pt x="84" y="22"/>
                </a:lnTo>
                <a:lnTo>
                  <a:pt x="94" y="27"/>
                </a:lnTo>
                <a:lnTo>
                  <a:pt x="103" y="33"/>
                </a:lnTo>
                <a:lnTo>
                  <a:pt x="112" y="40"/>
                </a:lnTo>
                <a:lnTo>
                  <a:pt x="120" y="47"/>
                </a:lnTo>
                <a:lnTo>
                  <a:pt x="128" y="55"/>
                </a:lnTo>
                <a:lnTo>
                  <a:pt x="135" y="63"/>
                </a:lnTo>
                <a:lnTo>
                  <a:pt x="142" y="72"/>
                </a:lnTo>
                <a:lnTo>
                  <a:pt x="148" y="81"/>
                </a:lnTo>
                <a:lnTo>
                  <a:pt x="153" y="91"/>
                </a:lnTo>
                <a:lnTo>
                  <a:pt x="158" y="100"/>
                </a:lnTo>
                <a:lnTo>
                  <a:pt x="163" y="111"/>
                </a:lnTo>
                <a:lnTo>
                  <a:pt x="166" y="121"/>
                </a:lnTo>
                <a:lnTo>
                  <a:pt x="169" y="131"/>
                </a:lnTo>
                <a:lnTo>
                  <a:pt x="172" y="142"/>
                </a:lnTo>
                <a:lnTo>
                  <a:pt x="174" y="153"/>
                </a:lnTo>
                <a:lnTo>
                  <a:pt x="175" y="164"/>
                </a:lnTo>
                <a:lnTo>
                  <a:pt x="110" y="168"/>
                </a:lnTo>
                <a:lnTo>
                  <a:pt x="109" y="161"/>
                </a:lnTo>
                <a:lnTo>
                  <a:pt x="108" y="154"/>
                </a:lnTo>
                <a:lnTo>
                  <a:pt x="107" y="148"/>
                </a:lnTo>
                <a:lnTo>
                  <a:pt x="105" y="141"/>
                </a:lnTo>
                <a:lnTo>
                  <a:pt x="102" y="135"/>
                </a:lnTo>
                <a:lnTo>
                  <a:pt x="100" y="128"/>
                </a:lnTo>
                <a:lnTo>
                  <a:pt x="96" y="122"/>
                </a:lnTo>
                <a:lnTo>
                  <a:pt x="93" y="116"/>
                </a:lnTo>
                <a:lnTo>
                  <a:pt x="89" y="110"/>
                </a:lnTo>
                <a:lnTo>
                  <a:pt x="85" y="105"/>
                </a:lnTo>
                <a:lnTo>
                  <a:pt x="80" y="100"/>
                </a:lnTo>
                <a:lnTo>
                  <a:pt x="75" y="95"/>
                </a:lnTo>
                <a:lnTo>
                  <a:pt x="70" y="90"/>
                </a:lnTo>
                <a:lnTo>
                  <a:pt x="65" y="86"/>
                </a:lnTo>
                <a:lnTo>
                  <a:pt x="59" y="82"/>
                </a:lnTo>
                <a:lnTo>
                  <a:pt x="53" y="79"/>
                </a:lnTo>
                <a:lnTo>
                  <a:pt x="47" y="75"/>
                </a:lnTo>
                <a:lnTo>
                  <a:pt x="40" y="73"/>
                </a:lnTo>
                <a:lnTo>
                  <a:pt x="34" y="70"/>
                </a:lnTo>
                <a:lnTo>
                  <a:pt x="27" y="68"/>
                </a:lnTo>
                <a:lnTo>
                  <a:pt x="21" y="67"/>
                </a:lnTo>
                <a:lnTo>
                  <a:pt x="14" y="66"/>
                </a:lnTo>
                <a:lnTo>
                  <a:pt x="7" y="65"/>
                </a:lnTo>
                <a:lnTo>
                  <a:pt x="0" y="65"/>
                </a:lnTo>
                <a:close/>
              </a:path>
            </a:pathLst>
          </a:custGeom>
          <a:solidFill>
            <a:srgbClr val="61B0B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1996" y="1695354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19" b="0">
                <a:solidFill>
                  <a:srgbClr val="555555"/>
                </a:solidFill>
                <a:latin typeface="Poppins"/>
              </a:rPr>
              <a:t>Mechanical  24%</a:t>
            </a:r>
          </a:p>
        </p:txBody>
      </p:sp>
      <p:sp>
        <p:nvSpPr>
          <p:cNvPr id="8" name="Freeform 7"/>
          <p:cNvSpPr/>
          <p:nvPr/>
        </p:nvSpPr>
        <p:spPr>
          <a:xfrm>
            <a:off x="4600575" y="2943225"/>
            <a:ext cx="1162050" cy="1562100"/>
          </a:xfrm>
          <a:custGeom>
            <a:avLst/>
            <a:gdLst/>
            <a:ahLst/>
            <a:cxnLst/>
            <a:rect l="l" t="t" r="r" b="b"/>
            <a:pathLst>
              <a:path w="122" h="164">
                <a:moveTo>
                  <a:pt x="122" y="0"/>
                </a:moveTo>
                <a:lnTo>
                  <a:pt x="122" y="8"/>
                </a:lnTo>
                <a:lnTo>
                  <a:pt x="122" y="16"/>
                </a:lnTo>
                <a:lnTo>
                  <a:pt x="121" y="25"/>
                </a:lnTo>
                <a:lnTo>
                  <a:pt x="121" y="33"/>
                </a:lnTo>
                <a:lnTo>
                  <a:pt x="119" y="41"/>
                </a:lnTo>
                <a:lnTo>
                  <a:pt x="118" y="49"/>
                </a:lnTo>
                <a:lnTo>
                  <a:pt x="116" y="57"/>
                </a:lnTo>
                <a:lnTo>
                  <a:pt x="113" y="65"/>
                </a:lnTo>
                <a:lnTo>
                  <a:pt x="111" y="73"/>
                </a:lnTo>
                <a:lnTo>
                  <a:pt x="108" y="80"/>
                </a:lnTo>
                <a:lnTo>
                  <a:pt x="104" y="88"/>
                </a:lnTo>
                <a:lnTo>
                  <a:pt x="100" y="95"/>
                </a:lnTo>
                <a:lnTo>
                  <a:pt x="96" y="102"/>
                </a:lnTo>
                <a:lnTo>
                  <a:pt x="92" y="109"/>
                </a:lnTo>
                <a:lnTo>
                  <a:pt x="87" y="116"/>
                </a:lnTo>
                <a:lnTo>
                  <a:pt x="82" y="123"/>
                </a:lnTo>
                <a:lnTo>
                  <a:pt x="76" y="129"/>
                </a:lnTo>
                <a:lnTo>
                  <a:pt x="71" y="135"/>
                </a:lnTo>
                <a:lnTo>
                  <a:pt x="65" y="140"/>
                </a:lnTo>
                <a:lnTo>
                  <a:pt x="59" y="146"/>
                </a:lnTo>
                <a:lnTo>
                  <a:pt x="52" y="151"/>
                </a:lnTo>
                <a:lnTo>
                  <a:pt x="45" y="156"/>
                </a:lnTo>
                <a:lnTo>
                  <a:pt x="38" y="160"/>
                </a:lnTo>
                <a:lnTo>
                  <a:pt x="31" y="164"/>
                </a:lnTo>
                <a:lnTo>
                  <a:pt x="0" y="107"/>
                </a:lnTo>
                <a:lnTo>
                  <a:pt x="4" y="105"/>
                </a:lnTo>
                <a:lnTo>
                  <a:pt x="9" y="102"/>
                </a:lnTo>
                <a:lnTo>
                  <a:pt x="13" y="99"/>
                </a:lnTo>
                <a:lnTo>
                  <a:pt x="17" y="96"/>
                </a:lnTo>
                <a:lnTo>
                  <a:pt x="21" y="92"/>
                </a:lnTo>
                <a:lnTo>
                  <a:pt x="25" y="89"/>
                </a:lnTo>
                <a:lnTo>
                  <a:pt x="28" y="85"/>
                </a:lnTo>
                <a:lnTo>
                  <a:pt x="32" y="81"/>
                </a:lnTo>
                <a:lnTo>
                  <a:pt x="35" y="77"/>
                </a:lnTo>
                <a:lnTo>
                  <a:pt x="38" y="73"/>
                </a:lnTo>
                <a:lnTo>
                  <a:pt x="41" y="68"/>
                </a:lnTo>
                <a:lnTo>
                  <a:pt x="43" y="64"/>
                </a:lnTo>
                <a:lnTo>
                  <a:pt x="46" y="59"/>
                </a:lnTo>
                <a:lnTo>
                  <a:pt x="48" y="55"/>
                </a:lnTo>
                <a:lnTo>
                  <a:pt x="50" y="50"/>
                </a:lnTo>
                <a:lnTo>
                  <a:pt x="52" y="45"/>
                </a:lnTo>
                <a:lnTo>
                  <a:pt x="53" y="40"/>
                </a:lnTo>
                <a:lnTo>
                  <a:pt x="54" y="35"/>
                </a:lnTo>
                <a:lnTo>
                  <a:pt x="55" y="30"/>
                </a:lnTo>
                <a:lnTo>
                  <a:pt x="56" y="25"/>
                </a:lnTo>
                <a:lnTo>
                  <a:pt x="57" y="20"/>
                </a:lnTo>
                <a:lnTo>
                  <a:pt x="57" y="14"/>
                </a:lnTo>
                <a:lnTo>
                  <a:pt x="57" y="9"/>
                </a:lnTo>
                <a:lnTo>
                  <a:pt x="57" y="4"/>
                </a:lnTo>
                <a:close/>
              </a:path>
            </a:pathLst>
          </a:custGeom>
          <a:solidFill>
            <a:srgbClr val="8FC7C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39943" y="3828764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19" b="0">
                <a:solidFill>
                  <a:srgbClr val="555555"/>
                </a:solidFill>
                <a:latin typeface="Poppins"/>
              </a:rPr>
              <a:t>Electrical  18%</a:t>
            </a:r>
          </a:p>
        </p:txBody>
      </p:sp>
      <p:sp>
        <p:nvSpPr>
          <p:cNvPr id="10" name="Freeform 9"/>
          <p:cNvSpPr/>
          <p:nvPr/>
        </p:nvSpPr>
        <p:spPr>
          <a:xfrm>
            <a:off x="3886200" y="3962400"/>
            <a:ext cx="1009650" cy="752475"/>
          </a:xfrm>
          <a:custGeom>
            <a:avLst/>
            <a:gdLst/>
            <a:ahLst/>
            <a:cxnLst/>
            <a:rect l="l" t="t" r="r" b="b"/>
            <a:pathLst>
              <a:path w="106" h="79">
                <a:moveTo>
                  <a:pt x="106" y="57"/>
                </a:moveTo>
                <a:lnTo>
                  <a:pt x="102" y="60"/>
                </a:lnTo>
                <a:lnTo>
                  <a:pt x="98" y="62"/>
                </a:lnTo>
                <a:lnTo>
                  <a:pt x="94" y="63"/>
                </a:lnTo>
                <a:lnTo>
                  <a:pt x="90" y="65"/>
                </a:lnTo>
                <a:lnTo>
                  <a:pt x="86" y="67"/>
                </a:lnTo>
                <a:lnTo>
                  <a:pt x="81" y="69"/>
                </a:lnTo>
                <a:lnTo>
                  <a:pt x="77" y="70"/>
                </a:lnTo>
                <a:lnTo>
                  <a:pt x="73" y="72"/>
                </a:lnTo>
                <a:lnTo>
                  <a:pt x="68" y="73"/>
                </a:lnTo>
                <a:lnTo>
                  <a:pt x="64" y="74"/>
                </a:lnTo>
                <a:lnTo>
                  <a:pt x="59" y="75"/>
                </a:lnTo>
                <a:lnTo>
                  <a:pt x="55" y="76"/>
                </a:lnTo>
                <a:lnTo>
                  <a:pt x="50" y="77"/>
                </a:lnTo>
                <a:lnTo>
                  <a:pt x="46" y="77"/>
                </a:lnTo>
                <a:lnTo>
                  <a:pt x="41" y="78"/>
                </a:lnTo>
                <a:lnTo>
                  <a:pt x="37" y="78"/>
                </a:lnTo>
                <a:lnTo>
                  <a:pt x="32" y="79"/>
                </a:lnTo>
                <a:lnTo>
                  <a:pt x="28" y="79"/>
                </a:lnTo>
                <a:lnTo>
                  <a:pt x="23" y="79"/>
                </a:lnTo>
                <a:lnTo>
                  <a:pt x="18" y="79"/>
                </a:lnTo>
                <a:lnTo>
                  <a:pt x="14" y="79"/>
                </a:lnTo>
                <a:lnTo>
                  <a:pt x="9" y="79"/>
                </a:lnTo>
                <a:lnTo>
                  <a:pt x="5" y="78"/>
                </a:lnTo>
                <a:lnTo>
                  <a:pt x="0" y="78"/>
                </a:lnTo>
                <a:lnTo>
                  <a:pt x="8" y="13"/>
                </a:lnTo>
                <a:lnTo>
                  <a:pt x="11" y="13"/>
                </a:lnTo>
                <a:lnTo>
                  <a:pt x="14" y="14"/>
                </a:lnTo>
                <a:lnTo>
                  <a:pt x="17" y="14"/>
                </a:lnTo>
                <a:lnTo>
                  <a:pt x="20" y="14"/>
                </a:lnTo>
                <a:lnTo>
                  <a:pt x="23" y="14"/>
                </a:lnTo>
                <a:lnTo>
                  <a:pt x="25" y="14"/>
                </a:lnTo>
                <a:lnTo>
                  <a:pt x="28" y="14"/>
                </a:lnTo>
                <a:lnTo>
                  <a:pt x="31" y="14"/>
                </a:lnTo>
                <a:lnTo>
                  <a:pt x="34" y="13"/>
                </a:lnTo>
                <a:lnTo>
                  <a:pt x="37" y="13"/>
                </a:lnTo>
                <a:lnTo>
                  <a:pt x="40" y="13"/>
                </a:lnTo>
                <a:lnTo>
                  <a:pt x="43" y="12"/>
                </a:lnTo>
                <a:lnTo>
                  <a:pt x="45" y="11"/>
                </a:lnTo>
                <a:lnTo>
                  <a:pt x="48" y="11"/>
                </a:lnTo>
                <a:lnTo>
                  <a:pt x="51" y="10"/>
                </a:lnTo>
                <a:lnTo>
                  <a:pt x="54" y="9"/>
                </a:lnTo>
                <a:lnTo>
                  <a:pt x="57" y="8"/>
                </a:lnTo>
                <a:lnTo>
                  <a:pt x="59" y="7"/>
                </a:lnTo>
                <a:lnTo>
                  <a:pt x="62" y="6"/>
                </a:lnTo>
                <a:lnTo>
                  <a:pt x="65" y="5"/>
                </a:lnTo>
                <a:lnTo>
                  <a:pt x="67" y="4"/>
                </a:lnTo>
                <a:lnTo>
                  <a:pt x="70" y="3"/>
                </a:lnTo>
                <a:lnTo>
                  <a:pt x="72" y="2"/>
                </a:lnTo>
                <a:lnTo>
                  <a:pt x="75" y="0"/>
                </a:lnTo>
                <a:close/>
              </a:path>
            </a:pathLst>
          </a:custGeom>
          <a:solidFill>
            <a:srgbClr val="61B0B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25981" y="4710779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19" b="0">
                <a:solidFill>
                  <a:srgbClr val="555555"/>
                </a:solidFill>
                <a:latin typeface="Poppins"/>
              </a:rPr>
              <a:t>Piping  10%</a:t>
            </a:r>
          </a:p>
        </p:txBody>
      </p:sp>
      <p:sp>
        <p:nvSpPr>
          <p:cNvPr id="12" name="Freeform 11"/>
          <p:cNvSpPr/>
          <p:nvPr/>
        </p:nvSpPr>
        <p:spPr>
          <a:xfrm>
            <a:off x="3048000" y="2724150"/>
            <a:ext cx="981075" cy="1362075"/>
          </a:xfrm>
          <a:custGeom>
            <a:avLst/>
            <a:gdLst/>
            <a:ahLst/>
            <a:cxnLst/>
            <a:rect l="l" t="t" r="r" b="b"/>
            <a:pathLst>
              <a:path w="103" h="143">
                <a:moveTo>
                  <a:pt x="96" y="143"/>
                </a:moveTo>
                <a:lnTo>
                  <a:pt x="88" y="142"/>
                </a:lnTo>
                <a:lnTo>
                  <a:pt x="80" y="140"/>
                </a:lnTo>
                <a:lnTo>
                  <a:pt x="73" y="137"/>
                </a:lnTo>
                <a:lnTo>
                  <a:pt x="65" y="134"/>
                </a:lnTo>
                <a:lnTo>
                  <a:pt x="58" y="131"/>
                </a:lnTo>
                <a:lnTo>
                  <a:pt x="51" y="127"/>
                </a:lnTo>
                <a:lnTo>
                  <a:pt x="44" y="122"/>
                </a:lnTo>
                <a:lnTo>
                  <a:pt x="38" y="117"/>
                </a:lnTo>
                <a:lnTo>
                  <a:pt x="32" y="112"/>
                </a:lnTo>
                <a:lnTo>
                  <a:pt x="27" y="106"/>
                </a:lnTo>
                <a:lnTo>
                  <a:pt x="22" y="100"/>
                </a:lnTo>
                <a:lnTo>
                  <a:pt x="17" y="93"/>
                </a:lnTo>
                <a:lnTo>
                  <a:pt x="13" y="86"/>
                </a:lnTo>
                <a:lnTo>
                  <a:pt x="10" y="79"/>
                </a:lnTo>
                <a:lnTo>
                  <a:pt x="7" y="71"/>
                </a:lnTo>
                <a:lnTo>
                  <a:pt x="4" y="64"/>
                </a:lnTo>
                <a:lnTo>
                  <a:pt x="2" y="56"/>
                </a:lnTo>
                <a:lnTo>
                  <a:pt x="1" y="48"/>
                </a:lnTo>
                <a:lnTo>
                  <a:pt x="0" y="40"/>
                </a:lnTo>
                <a:lnTo>
                  <a:pt x="0" y="32"/>
                </a:lnTo>
                <a:lnTo>
                  <a:pt x="0" y="24"/>
                </a:lnTo>
                <a:lnTo>
                  <a:pt x="2" y="16"/>
                </a:lnTo>
                <a:lnTo>
                  <a:pt x="3" y="8"/>
                </a:lnTo>
                <a:lnTo>
                  <a:pt x="5" y="0"/>
                </a:lnTo>
                <a:lnTo>
                  <a:pt x="58" y="17"/>
                </a:lnTo>
                <a:lnTo>
                  <a:pt x="57" y="21"/>
                </a:lnTo>
                <a:lnTo>
                  <a:pt x="56" y="25"/>
                </a:lnTo>
                <a:lnTo>
                  <a:pt x="55" y="29"/>
                </a:lnTo>
                <a:lnTo>
                  <a:pt x="55" y="33"/>
                </a:lnTo>
                <a:lnTo>
                  <a:pt x="55" y="37"/>
                </a:lnTo>
                <a:lnTo>
                  <a:pt x="55" y="41"/>
                </a:lnTo>
                <a:lnTo>
                  <a:pt x="56" y="45"/>
                </a:lnTo>
                <a:lnTo>
                  <a:pt x="57" y="49"/>
                </a:lnTo>
                <a:lnTo>
                  <a:pt x="58" y="53"/>
                </a:lnTo>
                <a:lnTo>
                  <a:pt x="60" y="56"/>
                </a:lnTo>
                <a:lnTo>
                  <a:pt x="62" y="60"/>
                </a:lnTo>
                <a:lnTo>
                  <a:pt x="64" y="63"/>
                </a:lnTo>
                <a:lnTo>
                  <a:pt x="66" y="67"/>
                </a:lnTo>
                <a:lnTo>
                  <a:pt x="68" y="70"/>
                </a:lnTo>
                <a:lnTo>
                  <a:pt x="71" y="73"/>
                </a:lnTo>
                <a:lnTo>
                  <a:pt x="74" y="76"/>
                </a:lnTo>
                <a:lnTo>
                  <a:pt x="77" y="78"/>
                </a:lnTo>
                <a:lnTo>
                  <a:pt x="81" y="80"/>
                </a:lnTo>
                <a:lnTo>
                  <a:pt x="84" y="82"/>
                </a:lnTo>
                <a:lnTo>
                  <a:pt x="88" y="84"/>
                </a:lnTo>
                <a:lnTo>
                  <a:pt x="91" y="86"/>
                </a:lnTo>
                <a:lnTo>
                  <a:pt x="95" y="87"/>
                </a:lnTo>
                <a:lnTo>
                  <a:pt x="99" y="88"/>
                </a:lnTo>
                <a:lnTo>
                  <a:pt x="103" y="89"/>
                </a:lnTo>
                <a:close/>
              </a:path>
            </a:pathLst>
          </a:custGeom>
          <a:solidFill>
            <a:srgbClr val="53A9A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4738" y="3400996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Poppins"/>
              </a:rPr>
              <a:t>Test</a:t>
            </a:r>
          </a:p>
        </p:txBody>
      </p:sp>
      <p:sp>
        <p:nvSpPr>
          <p:cNvPr id="14" name="Freeform 13"/>
          <p:cNvSpPr/>
          <p:nvPr/>
        </p:nvSpPr>
        <p:spPr>
          <a:xfrm>
            <a:off x="2590800" y="3495675"/>
            <a:ext cx="1371600" cy="1209675"/>
          </a:xfrm>
          <a:custGeom>
            <a:avLst/>
            <a:gdLst/>
            <a:ahLst/>
            <a:cxnLst/>
            <a:rect l="l" t="t" r="r" b="b"/>
            <a:pathLst>
              <a:path w="144" h="127">
                <a:moveTo>
                  <a:pt x="136" y="127"/>
                </a:moveTo>
                <a:lnTo>
                  <a:pt x="129" y="126"/>
                </a:lnTo>
                <a:lnTo>
                  <a:pt x="122" y="124"/>
                </a:lnTo>
                <a:lnTo>
                  <a:pt x="114" y="123"/>
                </a:lnTo>
                <a:lnTo>
                  <a:pt x="107" y="121"/>
                </a:lnTo>
                <a:lnTo>
                  <a:pt x="100" y="118"/>
                </a:lnTo>
                <a:lnTo>
                  <a:pt x="94" y="116"/>
                </a:lnTo>
                <a:lnTo>
                  <a:pt x="87" y="113"/>
                </a:lnTo>
                <a:lnTo>
                  <a:pt x="80" y="110"/>
                </a:lnTo>
                <a:lnTo>
                  <a:pt x="74" y="106"/>
                </a:lnTo>
                <a:lnTo>
                  <a:pt x="67" y="103"/>
                </a:lnTo>
                <a:lnTo>
                  <a:pt x="61" y="99"/>
                </a:lnTo>
                <a:lnTo>
                  <a:pt x="55" y="95"/>
                </a:lnTo>
                <a:lnTo>
                  <a:pt x="49" y="90"/>
                </a:lnTo>
                <a:lnTo>
                  <a:pt x="44" y="85"/>
                </a:lnTo>
                <a:lnTo>
                  <a:pt x="38" y="81"/>
                </a:lnTo>
                <a:lnTo>
                  <a:pt x="33" y="75"/>
                </a:lnTo>
                <a:lnTo>
                  <a:pt x="28" y="70"/>
                </a:lnTo>
                <a:lnTo>
                  <a:pt x="23" y="65"/>
                </a:lnTo>
                <a:lnTo>
                  <a:pt x="19" y="59"/>
                </a:lnTo>
                <a:lnTo>
                  <a:pt x="14" y="53"/>
                </a:lnTo>
                <a:lnTo>
                  <a:pt x="10" y="47"/>
                </a:lnTo>
                <a:lnTo>
                  <a:pt x="6" y="40"/>
                </a:lnTo>
                <a:lnTo>
                  <a:pt x="3" y="34"/>
                </a:lnTo>
                <a:lnTo>
                  <a:pt x="0" y="28"/>
                </a:lnTo>
                <a:lnTo>
                  <a:pt x="58" y="0"/>
                </a:lnTo>
                <a:lnTo>
                  <a:pt x="61" y="4"/>
                </a:lnTo>
                <a:lnTo>
                  <a:pt x="63" y="8"/>
                </a:lnTo>
                <a:lnTo>
                  <a:pt x="65" y="12"/>
                </a:lnTo>
                <a:lnTo>
                  <a:pt x="68" y="16"/>
                </a:lnTo>
                <a:lnTo>
                  <a:pt x="70" y="20"/>
                </a:lnTo>
                <a:lnTo>
                  <a:pt x="73" y="23"/>
                </a:lnTo>
                <a:lnTo>
                  <a:pt x="76" y="27"/>
                </a:lnTo>
                <a:lnTo>
                  <a:pt x="79" y="30"/>
                </a:lnTo>
                <a:lnTo>
                  <a:pt x="83" y="33"/>
                </a:lnTo>
                <a:lnTo>
                  <a:pt x="86" y="36"/>
                </a:lnTo>
                <a:lnTo>
                  <a:pt x="90" y="39"/>
                </a:lnTo>
                <a:lnTo>
                  <a:pt x="93" y="42"/>
                </a:lnTo>
                <a:lnTo>
                  <a:pt x="97" y="45"/>
                </a:lnTo>
                <a:lnTo>
                  <a:pt x="101" y="47"/>
                </a:lnTo>
                <a:lnTo>
                  <a:pt x="105" y="49"/>
                </a:lnTo>
                <a:lnTo>
                  <a:pt x="109" y="52"/>
                </a:lnTo>
                <a:lnTo>
                  <a:pt x="113" y="53"/>
                </a:lnTo>
                <a:lnTo>
                  <a:pt x="118" y="55"/>
                </a:lnTo>
                <a:lnTo>
                  <a:pt x="122" y="57"/>
                </a:lnTo>
                <a:lnTo>
                  <a:pt x="126" y="58"/>
                </a:lnTo>
                <a:lnTo>
                  <a:pt x="131" y="60"/>
                </a:lnTo>
                <a:lnTo>
                  <a:pt x="135" y="61"/>
                </a:lnTo>
                <a:lnTo>
                  <a:pt x="140" y="61"/>
                </a:lnTo>
                <a:lnTo>
                  <a:pt x="144" y="62"/>
                </a:lnTo>
                <a:close/>
              </a:path>
            </a:pathLst>
          </a:custGeom>
          <a:solidFill>
            <a:srgbClr val="94CAC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-2654998" y="4405503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19" b="0">
                <a:solidFill>
                  <a:srgbClr val="555555"/>
                </a:solidFill>
                <a:latin typeface="Poppins"/>
              </a:rPr>
              <a:t>Loops  16%</a:t>
            </a:r>
          </a:p>
        </p:txBody>
      </p:sp>
      <p:sp>
        <p:nvSpPr>
          <p:cNvPr id="16" name="Freeform 15"/>
          <p:cNvSpPr/>
          <p:nvPr/>
        </p:nvSpPr>
        <p:spPr>
          <a:xfrm>
            <a:off x="2428875" y="2533650"/>
            <a:ext cx="714375" cy="1228725"/>
          </a:xfrm>
          <a:custGeom>
            <a:avLst/>
            <a:gdLst/>
            <a:ahLst/>
            <a:cxnLst/>
            <a:rect l="l" t="t" r="r" b="b"/>
            <a:pathLst>
              <a:path w="75" h="129">
                <a:moveTo>
                  <a:pt x="17" y="129"/>
                </a:moveTo>
                <a:lnTo>
                  <a:pt x="14" y="123"/>
                </a:lnTo>
                <a:lnTo>
                  <a:pt x="12" y="118"/>
                </a:lnTo>
                <a:lnTo>
                  <a:pt x="10" y="113"/>
                </a:lnTo>
                <a:lnTo>
                  <a:pt x="9" y="108"/>
                </a:lnTo>
                <a:lnTo>
                  <a:pt x="7" y="103"/>
                </a:lnTo>
                <a:lnTo>
                  <a:pt x="6" y="98"/>
                </a:lnTo>
                <a:lnTo>
                  <a:pt x="4" y="92"/>
                </a:lnTo>
                <a:lnTo>
                  <a:pt x="3" y="87"/>
                </a:lnTo>
                <a:lnTo>
                  <a:pt x="2" y="81"/>
                </a:lnTo>
                <a:lnTo>
                  <a:pt x="1" y="76"/>
                </a:lnTo>
                <a:lnTo>
                  <a:pt x="1" y="70"/>
                </a:lnTo>
                <a:lnTo>
                  <a:pt x="0" y="65"/>
                </a:lnTo>
                <a:lnTo>
                  <a:pt x="0" y="59"/>
                </a:lnTo>
                <a:lnTo>
                  <a:pt x="0" y="54"/>
                </a:lnTo>
                <a:lnTo>
                  <a:pt x="0" y="49"/>
                </a:lnTo>
                <a:lnTo>
                  <a:pt x="0" y="43"/>
                </a:lnTo>
                <a:lnTo>
                  <a:pt x="1" y="38"/>
                </a:lnTo>
                <a:lnTo>
                  <a:pt x="1" y="32"/>
                </a:lnTo>
                <a:lnTo>
                  <a:pt x="2" y="27"/>
                </a:lnTo>
                <a:lnTo>
                  <a:pt x="3" y="21"/>
                </a:lnTo>
                <a:lnTo>
                  <a:pt x="4" y="16"/>
                </a:lnTo>
                <a:lnTo>
                  <a:pt x="6" y="10"/>
                </a:lnTo>
                <a:lnTo>
                  <a:pt x="7" y="5"/>
                </a:lnTo>
                <a:lnTo>
                  <a:pt x="9" y="0"/>
                </a:lnTo>
                <a:lnTo>
                  <a:pt x="70" y="20"/>
                </a:lnTo>
                <a:lnTo>
                  <a:pt x="69" y="23"/>
                </a:lnTo>
                <a:lnTo>
                  <a:pt x="68" y="27"/>
                </a:lnTo>
                <a:lnTo>
                  <a:pt x="68" y="30"/>
                </a:lnTo>
                <a:lnTo>
                  <a:pt x="67" y="33"/>
                </a:lnTo>
                <a:lnTo>
                  <a:pt x="66" y="37"/>
                </a:lnTo>
                <a:lnTo>
                  <a:pt x="66" y="40"/>
                </a:lnTo>
                <a:lnTo>
                  <a:pt x="65" y="44"/>
                </a:lnTo>
                <a:lnTo>
                  <a:pt x="65" y="47"/>
                </a:lnTo>
                <a:lnTo>
                  <a:pt x="65" y="51"/>
                </a:lnTo>
                <a:lnTo>
                  <a:pt x="65" y="54"/>
                </a:lnTo>
                <a:lnTo>
                  <a:pt x="65" y="57"/>
                </a:lnTo>
                <a:lnTo>
                  <a:pt x="65" y="61"/>
                </a:lnTo>
                <a:lnTo>
                  <a:pt x="65" y="64"/>
                </a:lnTo>
                <a:lnTo>
                  <a:pt x="66" y="68"/>
                </a:lnTo>
                <a:lnTo>
                  <a:pt x="66" y="71"/>
                </a:lnTo>
                <a:lnTo>
                  <a:pt x="67" y="75"/>
                </a:lnTo>
                <a:lnTo>
                  <a:pt x="68" y="78"/>
                </a:lnTo>
                <a:lnTo>
                  <a:pt x="68" y="81"/>
                </a:lnTo>
                <a:lnTo>
                  <a:pt x="69" y="85"/>
                </a:lnTo>
                <a:lnTo>
                  <a:pt x="70" y="88"/>
                </a:lnTo>
                <a:lnTo>
                  <a:pt x="72" y="91"/>
                </a:lnTo>
                <a:lnTo>
                  <a:pt x="73" y="94"/>
                </a:lnTo>
                <a:lnTo>
                  <a:pt x="74" y="98"/>
                </a:lnTo>
                <a:lnTo>
                  <a:pt x="75" y="101"/>
                </a:lnTo>
                <a:close/>
              </a:path>
            </a:pathLst>
          </a:custGeom>
          <a:solidFill>
            <a:srgbClr val="B3D9D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-3377850" y="3090576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19" b="0">
                <a:solidFill>
                  <a:srgbClr val="555555"/>
                </a:solidFill>
                <a:latin typeface="Poppins"/>
              </a:rPr>
              <a:t>Systems  12%</a:t>
            </a:r>
          </a:p>
        </p:txBody>
      </p:sp>
      <p:sp>
        <p:nvSpPr>
          <p:cNvPr id="18" name="Freeform 17"/>
          <p:cNvSpPr/>
          <p:nvPr/>
        </p:nvSpPr>
        <p:spPr>
          <a:xfrm>
            <a:off x="3095625" y="2000250"/>
            <a:ext cx="1000125" cy="885825"/>
          </a:xfrm>
          <a:custGeom>
            <a:avLst/>
            <a:gdLst/>
            <a:ahLst/>
            <a:cxnLst/>
            <a:rect l="l" t="t" r="r" b="b"/>
            <a:pathLst>
              <a:path w="105" h="93">
                <a:moveTo>
                  <a:pt x="0" y="76"/>
                </a:moveTo>
                <a:lnTo>
                  <a:pt x="2" y="71"/>
                </a:lnTo>
                <a:lnTo>
                  <a:pt x="5" y="65"/>
                </a:lnTo>
                <a:lnTo>
                  <a:pt x="7" y="60"/>
                </a:lnTo>
                <a:lnTo>
                  <a:pt x="10" y="55"/>
                </a:lnTo>
                <a:lnTo>
                  <a:pt x="13" y="50"/>
                </a:lnTo>
                <a:lnTo>
                  <a:pt x="16" y="45"/>
                </a:lnTo>
                <a:lnTo>
                  <a:pt x="20" y="41"/>
                </a:lnTo>
                <a:lnTo>
                  <a:pt x="23" y="36"/>
                </a:lnTo>
                <a:lnTo>
                  <a:pt x="27" y="32"/>
                </a:lnTo>
                <a:lnTo>
                  <a:pt x="31" y="28"/>
                </a:lnTo>
                <a:lnTo>
                  <a:pt x="36" y="25"/>
                </a:lnTo>
                <a:lnTo>
                  <a:pt x="40" y="21"/>
                </a:lnTo>
                <a:lnTo>
                  <a:pt x="45" y="18"/>
                </a:lnTo>
                <a:lnTo>
                  <a:pt x="50" y="15"/>
                </a:lnTo>
                <a:lnTo>
                  <a:pt x="55" y="12"/>
                </a:lnTo>
                <a:lnTo>
                  <a:pt x="60" y="10"/>
                </a:lnTo>
                <a:lnTo>
                  <a:pt x="66" y="7"/>
                </a:lnTo>
                <a:lnTo>
                  <a:pt x="71" y="5"/>
                </a:lnTo>
                <a:lnTo>
                  <a:pt x="77" y="4"/>
                </a:lnTo>
                <a:lnTo>
                  <a:pt x="82" y="2"/>
                </a:lnTo>
                <a:lnTo>
                  <a:pt x="88" y="1"/>
                </a:lnTo>
                <a:lnTo>
                  <a:pt x="94" y="1"/>
                </a:lnTo>
                <a:lnTo>
                  <a:pt x="99" y="0"/>
                </a:lnTo>
                <a:lnTo>
                  <a:pt x="105" y="0"/>
                </a:lnTo>
                <a:lnTo>
                  <a:pt x="105" y="55"/>
                </a:lnTo>
                <a:lnTo>
                  <a:pt x="102" y="55"/>
                </a:lnTo>
                <a:lnTo>
                  <a:pt x="99" y="55"/>
                </a:lnTo>
                <a:lnTo>
                  <a:pt x="96" y="56"/>
                </a:lnTo>
                <a:lnTo>
                  <a:pt x="94" y="56"/>
                </a:lnTo>
                <a:lnTo>
                  <a:pt x="91" y="57"/>
                </a:lnTo>
                <a:lnTo>
                  <a:pt x="88" y="58"/>
                </a:lnTo>
                <a:lnTo>
                  <a:pt x="85" y="59"/>
                </a:lnTo>
                <a:lnTo>
                  <a:pt x="83" y="60"/>
                </a:lnTo>
                <a:lnTo>
                  <a:pt x="80" y="61"/>
                </a:lnTo>
                <a:lnTo>
                  <a:pt x="77" y="62"/>
                </a:lnTo>
                <a:lnTo>
                  <a:pt x="75" y="64"/>
                </a:lnTo>
                <a:lnTo>
                  <a:pt x="73" y="66"/>
                </a:lnTo>
                <a:lnTo>
                  <a:pt x="70" y="67"/>
                </a:lnTo>
                <a:lnTo>
                  <a:pt x="68" y="69"/>
                </a:lnTo>
                <a:lnTo>
                  <a:pt x="66" y="71"/>
                </a:lnTo>
                <a:lnTo>
                  <a:pt x="64" y="73"/>
                </a:lnTo>
                <a:lnTo>
                  <a:pt x="62" y="75"/>
                </a:lnTo>
                <a:lnTo>
                  <a:pt x="61" y="78"/>
                </a:lnTo>
                <a:lnTo>
                  <a:pt x="59" y="80"/>
                </a:lnTo>
                <a:lnTo>
                  <a:pt x="57" y="82"/>
                </a:lnTo>
                <a:lnTo>
                  <a:pt x="56" y="85"/>
                </a:lnTo>
                <a:lnTo>
                  <a:pt x="55" y="88"/>
                </a:lnTo>
                <a:lnTo>
                  <a:pt x="54" y="90"/>
                </a:lnTo>
                <a:lnTo>
                  <a:pt x="53" y="93"/>
                </a:lnTo>
                <a:close/>
              </a:path>
            </a:pathLst>
          </a:custGeom>
          <a:solidFill>
            <a:srgbClr val="A6D3D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6382" y="2344197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Poppins"/>
              </a:rPr>
              <a:t>Docs</a:t>
            </a:r>
          </a:p>
        </p:txBody>
      </p:sp>
      <p:sp>
        <p:nvSpPr>
          <p:cNvPr id="20" name="Freeform 19"/>
          <p:cNvSpPr/>
          <p:nvPr/>
        </p:nvSpPr>
        <p:spPr>
          <a:xfrm>
            <a:off x="2514600" y="1590675"/>
            <a:ext cx="1076325" cy="1133475"/>
          </a:xfrm>
          <a:custGeom>
            <a:avLst/>
            <a:gdLst/>
            <a:ahLst/>
            <a:cxnLst/>
            <a:rect l="l" t="t" r="r" b="b"/>
            <a:pathLst>
              <a:path w="113" h="119">
                <a:moveTo>
                  <a:pt x="0" y="99"/>
                </a:moveTo>
                <a:lnTo>
                  <a:pt x="1" y="94"/>
                </a:lnTo>
                <a:lnTo>
                  <a:pt x="3" y="89"/>
                </a:lnTo>
                <a:lnTo>
                  <a:pt x="5" y="83"/>
                </a:lnTo>
                <a:lnTo>
                  <a:pt x="8" y="78"/>
                </a:lnTo>
                <a:lnTo>
                  <a:pt x="10" y="74"/>
                </a:lnTo>
                <a:lnTo>
                  <a:pt x="13" y="69"/>
                </a:lnTo>
                <a:lnTo>
                  <a:pt x="15" y="64"/>
                </a:lnTo>
                <a:lnTo>
                  <a:pt x="18" y="59"/>
                </a:lnTo>
                <a:lnTo>
                  <a:pt x="21" y="55"/>
                </a:lnTo>
                <a:lnTo>
                  <a:pt x="24" y="50"/>
                </a:lnTo>
                <a:lnTo>
                  <a:pt x="28" y="46"/>
                </a:lnTo>
                <a:lnTo>
                  <a:pt x="31" y="41"/>
                </a:lnTo>
                <a:lnTo>
                  <a:pt x="35" y="37"/>
                </a:lnTo>
                <a:lnTo>
                  <a:pt x="38" y="33"/>
                </a:lnTo>
                <a:lnTo>
                  <a:pt x="42" y="29"/>
                </a:lnTo>
                <a:lnTo>
                  <a:pt x="46" y="25"/>
                </a:lnTo>
                <a:lnTo>
                  <a:pt x="50" y="22"/>
                </a:lnTo>
                <a:lnTo>
                  <a:pt x="54" y="18"/>
                </a:lnTo>
                <a:lnTo>
                  <a:pt x="59" y="15"/>
                </a:lnTo>
                <a:lnTo>
                  <a:pt x="63" y="11"/>
                </a:lnTo>
                <a:lnTo>
                  <a:pt x="68" y="8"/>
                </a:lnTo>
                <a:lnTo>
                  <a:pt x="72" y="5"/>
                </a:lnTo>
                <a:lnTo>
                  <a:pt x="77" y="2"/>
                </a:lnTo>
                <a:lnTo>
                  <a:pt x="82" y="0"/>
                </a:lnTo>
                <a:lnTo>
                  <a:pt x="113" y="57"/>
                </a:lnTo>
                <a:lnTo>
                  <a:pt x="110" y="58"/>
                </a:lnTo>
                <a:lnTo>
                  <a:pt x="107" y="60"/>
                </a:lnTo>
                <a:lnTo>
                  <a:pt x="104" y="62"/>
                </a:lnTo>
                <a:lnTo>
                  <a:pt x="101" y="64"/>
                </a:lnTo>
                <a:lnTo>
                  <a:pt x="99" y="66"/>
                </a:lnTo>
                <a:lnTo>
                  <a:pt x="96" y="68"/>
                </a:lnTo>
                <a:lnTo>
                  <a:pt x="93" y="70"/>
                </a:lnTo>
                <a:lnTo>
                  <a:pt x="91" y="73"/>
                </a:lnTo>
                <a:lnTo>
                  <a:pt x="88" y="75"/>
                </a:lnTo>
                <a:lnTo>
                  <a:pt x="86" y="78"/>
                </a:lnTo>
                <a:lnTo>
                  <a:pt x="83" y="80"/>
                </a:lnTo>
                <a:lnTo>
                  <a:pt x="81" y="83"/>
                </a:lnTo>
                <a:lnTo>
                  <a:pt x="79" y="86"/>
                </a:lnTo>
                <a:lnTo>
                  <a:pt x="77" y="88"/>
                </a:lnTo>
                <a:lnTo>
                  <a:pt x="75" y="91"/>
                </a:lnTo>
                <a:lnTo>
                  <a:pt x="73" y="94"/>
                </a:lnTo>
                <a:lnTo>
                  <a:pt x="71" y="97"/>
                </a:lnTo>
                <a:lnTo>
                  <a:pt x="70" y="100"/>
                </a:lnTo>
                <a:lnTo>
                  <a:pt x="68" y="103"/>
                </a:lnTo>
                <a:lnTo>
                  <a:pt x="66" y="106"/>
                </a:lnTo>
                <a:lnTo>
                  <a:pt x="65" y="109"/>
                </a:lnTo>
                <a:lnTo>
                  <a:pt x="64" y="113"/>
                </a:lnTo>
                <a:lnTo>
                  <a:pt x="62" y="116"/>
                </a:lnTo>
                <a:lnTo>
                  <a:pt x="61" y="119"/>
                </a:lnTo>
                <a:close/>
              </a:path>
            </a:pathLst>
          </a:custGeom>
          <a:solidFill>
            <a:srgbClr val="C8E4E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-2976943" y="1856708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19" b="0">
                <a:solidFill>
                  <a:srgbClr val="555555"/>
                </a:solidFill>
                <a:latin typeface="Poppins"/>
              </a:rPr>
              <a:t>As-built  12%</a:t>
            </a:r>
          </a:p>
        </p:txBody>
      </p:sp>
      <p:sp>
        <p:nvSpPr>
          <p:cNvPr id="22" name="Freeform 21"/>
          <p:cNvSpPr/>
          <p:nvPr/>
        </p:nvSpPr>
        <p:spPr>
          <a:xfrm>
            <a:off x="3295650" y="1381125"/>
            <a:ext cx="800100" cy="752475"/>
          </a:xfrm>
          <a:custGeom>
            <a:avLst/>
            <a:gdLst/>
            <a:ahLst/>
            <a:cxnLst/>
            <a:rect l="l" t="t" r="r" b="b"/>
            <a:pathLst>
              <a:path w="84" h="79">
                <a:moveTo>
                  <a:pt x="0" y="22"/>
                </a:moveTo>
                <a:lnTo>
                  <a:pt x="3" y="20"/>
                </a:lnTo>
                <a:lnTo>
                  <a:pt x="6" y="18"/>
                </a:lnTo>
                <a:lnTo>
                  <a:pt x="9" y="17"/>
                </a:lnTo>
                <a:lnTo>
                  <a:pt x="13" y="15"/>
                </a:lnTo>
                <a:lnTo>
                  <a:pt x="16" y="14"/>
                </a:lnTo>
                <a:lnTo>
                  <a:pt x="20" y="12"/>
                </a:lnTo>
                <a:lnTo>
                  <a:pt x="23" y="11"/>
                </a:lnTo>
                <a:lnTo>
                  <a:pt x="26" y="10"/>
                </a:lnTo>
                <a:lnTo>
                  <a:pt x="30" y="9"/>
                </a:lnTo>
                <a:lnTo>
                  <a:pt x="33" y="7"/>
                </a:lnTo>
                <a:lnTo>
                  <a:pt x="37" y="6"/>
                </a:lnTo>
                <a:lnTo>
                  <a:pt x="40" y="5"/>
                </a:lnTo>
                <a:lnTo>
                  <a:pt x="44" y="5"/>
                </a:lnTo>
                <a:lnTo>
                  <a:pt x="48" y="4"/>
                </a:lnTo>
                <a:lnTo>
                  <a:pt x="51" y="3"/>
                </a:lnTo>
                <a:lnTo>
                  <a:pt x="55" y="2"/>
                </a:lnTo>
                <a:lnTo>
                  <a:pt x="58" y="2"/>
                </a:lnTo>
                <a:lnTo>
                  <a:pt x="62" y="1"/>
                </a:lnTo>
                <a:lnTo>
                  <a:pt x="66" y="1"/>
                </a:lnTo>
                <a:lnTo>
                  <a:pt x="69" y="1"/>
                </a:lnTo>
                <a:lnTo>
                  <a:pt x="73" y="0"/>
                </a:lnTo>
                <a:lnTo>
                  <a:pt x="77" y="0"/>
                </a:lnTo>
                <a:lnTo>
                  <a:pt x="80" y="0"/>
                </a:lnTo>
                <a:lnTo>
                  <a:pt x="84" y="0"/>
                </a:lnTo>
                <a:lnTo>
                  <a:pt x="84" y="65"/>
                </a:lnTo>
                <a:lnTo>
                  <a:pt x="82" y="65"/>
                </a:lnTo>
                <a:lnTo>
                  <a:pt x="79" y="65"/>
                </a:lnTo>
                <a:lnTo>
                  <a:pt x="77" y="65"/>
                </a:lnTo>
                <a:lnTo>
                  <a:pt x="75" y="65"/>
                </a:lnTo>
                <a:lnTo>
                  <a:pt x="73" y="66"/>
                </a:lnTo>
                <a:lnTo>
                  <a:pt x="70" y="66"/>
                </a:lnTo>
                <a:lnTo>
                  <a:pt x="68" y="66"/>
                </a:lnTo>
                <a:lnTo>
                  <a:pt x="66" y="67"/>
                </a:lnTo>
                <a:lnTo>
                  <a:pt x="63" y="67"/>
                </a:lnTo>
                <a:lnTo>
                  <a:pt x="61" y="67"/>
                </a:lnTo>
                <a:lnTo>
                  <a:pt x="59" y="68"/>
                </a:lnTo>
                <a:lnTo>
                  <a:pt x="57" y="68"/>
                </a:lnTo>
                <a:lnTo>
                  <a:pt x="54" y="69"/>
                </a:lnTo>
                <a:lnTo>
                  <a:pt x="52" y="70"/>
                </a:lnTo>
                <a:lnTo>
                  <a:pt x="50" y="70"/>
                </a:lnTo>
                <a:lnTo>
                  <a:pt x="48" y="71"/>
                </a:lnTo>
                <a:lnTo>
                  <a:pt x="46" y="72"/>
                </a:lnTo>
                <a:lnTo>
                  <a:pt x="44" y="73"/>
                </a:lnTo>
                <a:lnTo>
                  <a:pt x="41" y="74"/>
                </a:lnTo>
                <a:lnTo>
                  <a:pt x="39" y="75"/>
                </a:lnTo>
                <a:lnTo>
                  <a:pt x="37" y="75"/>
                </a:lnTo>
                <a:lnTo>
                  <a:pt x="35" y="76"/>
                </a:lnTo>
                <a:lnTo>
                  <a:pt x="33" y="78"/>
                </a:lnTo>
                <a:lnTo>
                  <a:pt x="31" y="79"/>
                </a:lnTo>
                <a:close/>
              </a:path>
            </a:pathLst>
          </a:custGeom>
          <a:solidFill>
            <a:srgbClr val="D8ECE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-2057495" y="1273111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19" b="0">
                <a:solidFill>
                  <a:srgbClr val="555555"/>
                </a:solidFill>
                <a:latin typeface="Poppins"/>
              </a:rPr>
              <a:t>Handover  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4800" y="4810125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19" b="0">
                <a:solidFill>
                  <a:srgbClr val="555555"/>
                </a:solidFill>
                <a:latin typeface="Poppins"/>
              </a:rPr>
              <a:t>Source: sample dataset v1, 2026-07-12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