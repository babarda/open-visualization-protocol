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Actual progress reached 62% in June, 9 points behind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4305300"/>
            <a:ext cx="6286500" cy="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-4914900" y="42371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533775"/>
            <a:ext cx="62865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4914900" y="3465671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762250"/>
            <a:ext cx="62865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-4914900" y="269414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40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1990725"/>
            <a:ext cx="62865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-4914900" y="1922621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60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1219200"/>
            <a:ext cx="62865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4914900" y="11510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1943100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Jan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685800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Feb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Apr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6100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May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3910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Jun</a:t>
            </a:r>
          </a:p>
        </p:txBody>
      </p:sp>
      <p:sp>
        <p:nvSpPr>
          <p:cNvPr id="20" name="Freeform 19"/>
          <p:cNvSpPr/>
          <p:nvPr/>
        </p:nvSpPr>
        <p:spPr>
          <a:xfrm>
            <a:off x="914400" y="1562100"/>
            <a:ext cx="6286500" cy="2362200"/>
          </a:xfrm>
          <a:custGeom>
            <a:avLst/>
            <a:gdLst/>
            <a:ahLst/>
            <a:cxnLst/>
            <a:rect l="l" t="t" r="r" b="b"/>
            <a:pathLst>
              <a:path w="660" h="248">
                <a:moveTo>
                  <a:pt x="0" y="248"/>
                </a:moveTo>
                <a:lnTo>
                  <a:pt x="132" y="187"/>
                </a:lnTo>
                <a:lnTo>
                  <a:pt x="264" y="126"/>
                </a:lnTo>
                <a:lnTo>
                  <a:pt x="396" y="77"/>
                </a:lnTo>
                <a:lnTo>
                  <a:pt x="528" y="33"/>
                </a:lnTo>
                <a:lnTo>
                  <a:pt x="660" y="0"/>
                </a:lnTo>
              </a:path>
            </a:pathLst>
          </a:custGeom>
          <a:noFill/>
          <a:ln w="1905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150" y="1485900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555555"/>
                </a:solidFill>
                <a:latin typeface="Poppins"/>
              </a:rPr>
              <a:t>Plan</a:t>
            </a:r>
          </a:p>
        </p:txBody>
      </p:sp>
      <p:sp>
        <p:nvSpPr>
          <p:cNvPr id="22" name="Freeform 21"/>
          <p:cNvSpPr/>
          <p:nvPr/>
        </p:nvSpPr>
        <p:spPr>
          <a:xfrm>
            <a:off x="914400" y="1914525"/>
            <a:ext cx="6286500" cy="2085975"/>
          </a:xfrm>
          <a:custGeom>
            <a:avLst/>
            <a:gdLst/>
            <a:ahLst/>
            <a:cxnLst/>
            <a:rect l="l" t="t" r="r" b="b"/>
            <a:pathLst>
              <a:path w="660" h="219">
                <a:moveTo>
                  <a:pt x="0" y="219"/>
                </a:moveTo>
                <a:lnTo>
                  <a:pt x="132" y="170"/>
                </a:lnTo>
                <a:lnTo>
                  <a:pt x="264" y="117"/>
                </a:lnTo>
                <a:lnTo>
                  <a:pt x="396" y="69"/>
                </a:lnTo>
                <a:lnTo>
                  <a:pt x="528" y="28"/>
                </a:lnTo>
                <a:lnTo>
                  <a:pt x="660" y="0"/>
                </a:lnTo>
              </a:path>
            </a:pathLst>
          </a:custGeom>
          <a:noFill/>
          <a:ln w="23812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150" y="1833086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1">
                <a:solidFill>
                  <a:srgbClr val="008080"/>
                </a:solidFill>
                <a:latin typeface="Poppins"/>
              </a:rPr>
              <a:t>Actual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514850" y="2569368"/>
            <a:ext cx="171450" cy="621507"/>
          </a:xfrm>
          <a:prstGeom prst="line">
            <a:avLst/>
          </a:prstGeom>
          <a:ln w="9525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-1238250" y="3124200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Poppins"/>
              </a:rPr>
              <a:t>gap widens from April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