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Delivery on-time sits at 87%, 8 points under target</a:t>
            </a:r>
          </a:p>
        </p:txBody>
      </p:sp>
      <p:sp>
        <p:nvSpPr>
          <p:cNvPr id="4" name="Freeform 3"/>
          <p:cNvSpPr/>
          <p:nvPr/>
        </p:nvSpPr>
        <p:spPr>
          <a:xfrm>
            <a:off x="1104900" y="276225"/>
            <a:ext cx="3429000" cy="3343275"/>
          </a:xfrm>
          <a:custGeom>
            <a:avLst/>
            <a:gdLst/>
            <a:ahLst/>
            <a:cxnLst/>
            <a:rect l="l" t="t" r="r" b="b"/>
            <a:pathLst>
              <a:path w="360" h="351">
                <a:moveTo>
                  <a:pt x="124" y="351"/>
                </a:moveTo>
                <a:lnTo>
                  <a:pt x="94" y="338"/>
                </a:lnTo>
                <a:lnTo>
                  <a:pt x="66" y="320"/>
                </a:lnTo>
                <a:lnTo>
                  <a:pt x="43" y="297"/>
                </a:lnTo>
                <a:lnTo>
                  <a:pt x="24" y="270"/>
                </a:lnTo>
                <a:lnTo>
                  <a:pt x="10" y="240"/>
                </a:lnTo>
                <a:lnTo>
                  <a:pt x="2" y="208"/>
                </a:lnTo>
                <a:lnTo>
                  <a:pt x="0" y="175"/>
                </a:lnTo>
                <a:lnTo>
                  <a:pt x="4" y="142"/>
                </a:lnTo>
                <a:lnTo>
                  <a:pt x="13" y="111"/>
                </a:lnTo>
                <a:lnTo>
                  <a:pt x="29" y="82"/>
                </a:lnTo>
                <a:lnTo>
                  <a:pt x="49" y="56"/>
                </a:lnTo>
                <a:lnTo>
                  <a:pt x="74" y="34"/>
                </a:lnTo>
                <a:lnTo>
                  <a:pt x="102" y="17"/>
                </a:lnTo>
                <a:lnTo>
                  <a:pt x="133" y="6"/>
                </a:lnTo>
                <a:lnTo>
                  <a:pt x="165" y="0"/>
                </a:lnTo>
                <a:lnTo>
                  <a:pt x="198" y="1"/>
                </a:lnTo>
                <a:lnTo>
                  <a:pt x="231" y="7"/>
                </a:lnTo>
                <a:lnTo>
                  <a:pt x="261" y="19"/>
                </a:lnTo>
                <a:lnTo>
                  <a:pt x="289" y="37"/>
                </a:lnTo>
                <a:lnTo>
                  <a:pt x="313" y="59"/>
                </a:lnTo>
                <a:lnTo>
                  <a:pt x="333" y="86"/>
                </a:lnTo>
                <a:lnTo>
                  <a:pt x="348" y="115"/>
                </a:lnTo>
                <a:lnTo>
                  <a:pt x="357" y="147"/>
                </a:lnTo>
                <a:lnTo>
                  <a:pt x="360" y="180"/>
                </a:lnTo>
                <a:lnTo>
                  <a:pt x="349" y="212"/>
                </a:lnTo>
                <a:lnTo>
                  <a:pt x="347" y="186"/>
                </a:lnTo>
                <a:lnTo>
                  <a:pt x="339" y="160"/>
                </a:lnTo>
                <a:lnTo>
                  <a:pt x="328" y="136"/>
                </a:lnTo>
                <a:lnTo>
                  <a:pt x="312" y="114"/>
                </a:lnTo>
                <a:lnTo>
                  <a:pt x="292" y="96"/>
                </a:lnTo>
                <a:lnTo>
                  <a:pt x="269" y="82"/>
                </a:lnTo>
                <a:lnTo>
                  <a:pt x="245" y="72"/>
                </a:lnTo>
                <a:lnTo>
                  <a:pt x="218" y="67"/>
                </a:lnTo>
                <a:lnTo>
                  <a:pt x="192" y="67"/>
                </a:lnTo>
                <a:lnTo>
                  <a:pt x="165" y="71"/>
                </a:lnTo>
                <a:lnTo>
                  <a:pt x="140" y="80"/>
                </a:lnTo>
                <a:lnTo>
                  <a:pt x="117" y="94"/>
                </a:lnTo>
                <a:lnTo>
                  <a:pt x="97" y="112"/>
                </a:lnTo>
                <a:lnTo>
                  <a:pt x="81" y="133"/>
                </a:lnTo>
                <a:lnTo>
                  <a:pt x="68" y="156"/>
                </a:lnTo>
                <a:lnTo>
                  <a:pt x="60" y="182"/>
                </a:lnTo>
                <a:lnTo>
                  <a:pt x="57" y="208"/>
                </a:lnTo>
                <a:lnTo>
                  <a:pt x="59" y="235"/>
                </a:lnTo>
                <a:lnTo>
                  <a:pt x="65" y="261"/>
                </a:lnTo>
                <a:lnTo>
                  <a:pt x="77" y="285"/>
                </a:lnTo>
                <a:lnTo>
                  <a:pt x="92" y="307"/>
                </a:lnTo>
                <a:lnTo>
                  <a:pt x="111" y="326"/>
                </a:lnTo>
                <a:lnTo>
                  <a:pt x="133" y="340"/>
                </a:lnTo>
                <a:lnTo>
                  <a:pt x="158" y="35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429125" y="1990725"/>
            <a:ext cx="1095375" cy="1000125"/>
          </a:xfrm>
          <a:custGeom>
            <a:avLst/>
            <a:gdLst/>
            <a:ahLst/>
            <a:cxnLst/>
            <a:rect l="l" t="t" r="r" b="b"/>
            <a:pathLst>
              <a:path w="115" h="105">
                <a:moveTo>
                  <a:pt x="11" y="0"/>
                </a:moveTo>
                <a:lnTo>
                  <a:pt x="16" y="2"/>
                </a:lnTo>
                <a:lnTo>
                  <a:pt x="22" y="4"/>
                </a:lnTo>
                <a:lnTo>
                  <a:pt x="27" y="6"/>
                </a:lnTo>
                <a:lnTo>
                  <a:pt x="32" y="9"/>
                </a:lnTo>
                <a:lnTo>
                  <a:pt x="38" y="11"/>
                </a:lnTo>
                <a:lnTo>
                  <a:pt x="43" y="14"/>
                </a:lnTo>
                <a:lnTo>
                  <a:pt x="48" y="17"/>
                </a:lnTo>
                <a:lnTo>
                  <a:pt x="53" y="20"/>
                </a:lnTo>
                <a:lnTo>
                  <a:pt x="58" y="23"/>
                </a:lnTo>
                <a:lnTo>
                  <a:pt x="63" y="27"/>
                </a:lnTo>
                <a:lnTo>
                  <a:pt x="67" y="30"/>
                </a:lnTo>
                <a:lnTo>
                  <a:pt x="72" y="34"/>
                </a:lnTo>
                <a:lnTo>
                  <a:pt x="76" y="38"/>
                </a:lnTo>
                <a:lnTo>
                  <a:pt x="81" y="42"/>
                </a:lnTo>
                <a:lnTo>
                  <a:pt x="85" y="46"/>
                </a:lnTo>
                <a:lnTo>
                  <a:pt x="89" y="51"/>
                </a:lnTo>
                <a:lnTo>
                  <a:pt x="93" y="55"/>
                </a:lnTo>
                <a:lnTo>
                  <a:pt x="96" y="60"/>
                </a:lnTo>
                <a:lnTo>
                  <a:pt x="100" y="64"/>
                </a:lnTo>
                <a:lnTo>
                  <a:pt x="103" y="69"/>
                </a:lnTo>
                <a:lnTo>
                  <a:pt x="107" y="74"/>
                </a:lnTo>
                <a:lnTo>
                  <a:pt x="110" y="79"/>
                </a:lnTo>
                <a:lnTo>
                  <a:pt x="113" y="84"/>
                </a:lnTo>
                <a:lnTo>
                  <a:pt x="115" y="89"/>
                </a:lnTo>
                <a:lnTo>
                  <a:pt x="85" y="105"/>
                </a:lnTo>
                <a:lnTo>
                  <a:pt x="83" y="100"/>
                </a:lnTo>
                <a:lnTo>
                  <a:pt x="80" y="96"/>
                </a:lnTo>
                <a:lnTo>
                  <a:pt x="78" y="92"/>
                </a:lnTo>
                <a:lnTo>
                  <a:pt x="75" y="88"/>
                </a:lnTo>
                <a:lnTo>
                  <a:pt x="73" y="84"/>
                </a:lnTo>
                <a:lnTo>
                  <a:pt x="70" y="81"/>
                </a:lnTo>
                <a:lnTo>
                  <a:pt x="67" y="77"/>
                </a:lnTo>
                <a:lnTo>
                  <a:pt x="64" y="73"/>
                </a:lnTo>
                <a:lnTo>
                  <a:pt x="60" y="70"/>
                </a:lnTo>
                <a:lnTo>
                  <a:pt x="57" y="66"/>
                </a:lnTo>
                <a:lnTo>
                  <a:pt x="53" y="63"/>
                </a:lnTo>
                <a:lnTo>
                  <a:pt x="50" y="60"/>
                </a:lnTo>
                <a:lnTo>
                  <a:pt x="46" y="57"/>
                </a:lnTo>
                <a:lnTo>
                  <a:pt x="42" y="54"/>
                </a:lnTo>
                <a:lnTo>
                  <a:pt x="38" y="51"/>
                </a:lnTo>
                <a:lnTo>
                  <a:pt x="35" y="49"/>
                </a:lnTo>
                <a:lnTo>
                  <a:pt x="30" y="46"/>
                </a:lnTo>
                <a:lnTo>
                  <a:pt x="26" y="44"/>
                </a:lnTo>
                <a:lnTo>
                  <a:pt x="22" y="41"/>
                </a:lnTo>
                <a:lnTo>
                  <a:pt x="18" y="39"/>
                </a:lnTo>
                <a:lnTo>
                  <a:pt x="14" y="37"/>
                </a:lnTo>
                <a:lnTo>
                  <a:pt x="9" y="35"/>
                </a:lnTo>
                <a:lnTo>
                  <a:pt x="5" y="34"/>
                </a:lnTo>
                <a:lnTo>
                  <a:pt x="0" y="32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8750" y="2838450"/>
            <a:ext cx="476250" cy="781050"/>
          </a:xfrm>
          <a:custGeom>
            <a:avLst/>
            <a:gdLst/>
            <a:ahLst/>
            <a:cxnLst/>
            <a:rect l="l" t="t" r="r" b="b"/>
            <a:pathLst>
              <a:path w="50" h="82">
                <a:moveTo>
                  <a:pt x="30" y="0"/>
                </a:moveTo>
                <a:lnTo>
                  <a:pt x="32" y="3"/>
                </a:lnTo>
                <a:lnTo>
                  <a:pt x="33" y="7"/>
                </a:lnTo>
                <a:lnTo>
                  <a:pt x="35" y="10"/>
                </a:lnTo>
                <a:lnTo>
                  <a:pt x="36" y="13"/>
                </a:lnTo>
                <a:lnTo>
                  <a:pt x="38" y="16"/>
                </a:lnTo>
                <a:lnTo>
                  <a:pt x="39" y="20"/>
                </a:lnTo>
                <a:lnTo>
                  <a:pt x="40" y="23"/>
                </a:lnTo>
                <a:lnTo>
                  <a:pt x="41" y="26"/>
                </a:lnTo>
                <a:lnTo>
                  <a:pt x="42" y="30"/>
                </a:lnTo>
                <a:lnTo>
                  <a:pt x="43" y="33"/>
                </a:lnTo>
                <a:lnTo>
                  <a:pt x="44" y="37"/>
                </a:lnTo>
                <a:lnTo>
                  <a:pt x="45" y="40"/>
                </a:lnTo>
                <a:lnTo>
                  <a:pt x="46" y="43"/>
                </a:lnTo>
                <a:lnTo>
                  <a:pt x="47" y="47"/>
                </a:lnTo>
                <a:lnTo>
                  <a:pt x="47" y="50"/>
                </a:lnTo>
                <a:lnTo>
                  <a:pt x="48" y="54"/>
                </a:lnTo>
                <a:lnTo>
                  <a:pt x="48" y="57"/>
                </a:lnTo>
                <a:lnTo>
                  <a:pt x="49" y="61"/>
                </a:lnTo>
                <a:lnTo>
                  <a:pt x="49" y="64"/>
                </a:lnTo>
                <a:lnTo>
                  <a:pt x="49" y="68"/>
                </a:lnTo>
                <a:lnTo>
                  <a:pt x="50" y="71"/>
                </a:lnTo>
                <a:lnTo>
                  <a:pt x="50" y="75"/>
                </a:lnTo>
                <a:lnTo>
                  <a:pt x="50" y="78"/>
                </a:lnTo>
                <a:lnTo>
                  <a:pt x="50" y="82"/>
                </a:lnTo>
                <a:lnTo>
                  <a:pt x="16" y="82"/>
                </a:lnTo>
                <a:lnTo>
                  <a:pt x="16" y="79"/>
                </a:lnTo>
                <a:lnTo>
                  <a:pt x="16" y="76"/>
                </a:lnTo>
                <a:lnTo>
                  <a:pt x="16" y="73"/>
                </a:lnTo>
                <a:lnTo>
                  <a:pt x="16" y="71"/>
                </a:lnTo>
                <a:lnTo>
                  <a:pt x="15" y="68"/>
                </a:lnTo>
                <a:lnTo>
                  <a:pt x="15" y="65"/>
                </a:lnTo>
                <a:lnTo>
                  <a:pt x="15" y="62"/>
                </a:lnTo>
                <a:lnTo>
                  <a:pt x="14" y="59"/>
                </a:lnTo>
                <a:lnTo>
                  <a:pt x="14" y="56"/>
                </a:lnTo>
                <a:lnTo>
                  <a:pt x="13" y="54"/>
                </a:lnTo>
                <a:lnTo>
                  <a:pt x="13" y="51"/>
                </a:lnTo>
                <a:lnTo>
                  <a:pt x="12" y="48"/>
                </a:lnTo>
                <a:lnTo>
                  <a:pt x="11" y="45"/>
                </a:lnTo>
                <a:lnTo>
                  <a:pt x="11" y="42"/>
                </a:lnTo>
                <a:lnTo>
                  <a:pt x="10" y="40"/>
                </a:lnTo>
                <a:lnTo>
                  <a:pt x="9" y="37"/>
                </a:lnTo>
                <a:lnTo>
                  <a:pt x="8" y="34"/>
                </a:lnTo>
                <a:lnTo>
                  <a:pt x="7" y="31"/>
                </a:lnTo>
                <a:lnTo>
                  <a:pt x="6" y="29"/>
                </a:lnTo>
                <a:lnTo>
                  <a:pt x="5" y="26"/>
                </a:lnTo>
                <a:lnTo>
                  <a:pt x="4" y="23"/>
                </a:lnTo>
                <a:lnTo>
                  <a:pt x="3" y="21"/>
                </a:lnTo>
                <a:lnTo>
                  <a:pt x="1" y="18"/>
                </a:lnTo>
                <a:lnTo>
                  <a:pt x="0" y="16"/>
                </a:lnTo>
                <a:close/>
              </a:path>
            </a:pathLst>
          </a:cu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5317617" y="3342322"/>
            <a:ext cx="432720" cy="68580"/>
          </a:xfrm>
          <a:prstGeom prst="line">
            <a:avLst/>
          </a:prstGeom>
          <a:ln w="23812">
            <a:solidFill>
              <a:srgbClr val="D63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000500" y="3002851"/>
            <a:ext cx="1424844" cy="616649"/>
          </a:xfrm>
          <a:prstGeom prst="line">
            <a:avLst/>
          </a:prstGeom>
          <a:ln w="2857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933825" y="3552825"/>
            <a:ext cx="133350" cy="1333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742950" y="35528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8950" y="35528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10000"/>
            <a:ext cx="5715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222222"/>
                </a:solidFill>
                <a:latin typeface="Poppins"/>
              </a:rPr>
              <a:t>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672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Poppins"/>
              </a:rPr>
              <a:t>target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