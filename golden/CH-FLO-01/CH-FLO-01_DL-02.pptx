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57150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222222"/>
                </a:solidFill>
                <a:latin typeface="Rethink Sans"/>
              </a:rPr>
              <a:t>Forecast lands 18 points over budget; logistics drives two thirds of the overrun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3268" y="1902523"/>
            <a:ext cx="533400" cy="2212276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587531" y="1702498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100 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324100" y="1637061"/>
            <a:ext cx="533400" cy="265461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-266700" y="1437036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+12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44931" y="1460087"/>
            <a:ext cx="533400" cy="176974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131" y="1260062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+8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65668" y="1371600"/>
            <a:ext cx="533400" cy="88487"/>
          </a:xfrm>
          <a:prstGeom prst="rect">
            <a:avLst/>
          </a:prstGeom>
          <a:solidFill>
            <a:srgbClr val="D6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4868" y="1171575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+4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86500" y="1371600"/>
            <a:ext cx="533400" cy="132778"/>
          </a:xfrm>
          <a:prstGeom prst="rect">
            <a:avLst/>
          </a:prstGeom>
          <a:solidFill>
            <a:srgbClr val="339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5700" y="1171575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0">
                <a:solidFill>
                  <a:srgbClr val="222222"/>
                </a:solidFill>
                <a:latin typeface="Poppins"/>
              </a:rPr>
              <a:t>-6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7331" y="1504378"/>
            <a:ext cx="533400" cy="2610421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16531" y="1304353"/>
            <a:ext cx="5715000" cy="1857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80" b="1">
                <a:solidFill>
                  <a:srgbClr val="222222"/>
                </a:solidFill>
                <a:latin typeface="Poppins"/>
              </a:rPr>
              <a:t>118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36668" y="1902523"/>
            <a:ext cx="787432" cy="0"/>
          </a:xfrm>
          <a:prstGeom prst="line">
            <a:avLst/>
          </a:prstGeom>
          <a:ln w="9525">
            <a:solidFill>
              <a:srgbClr val="E2E8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1637061"/>
            <a:ext cx="787431" cy="0"/>
          </a:xfrm>
          <a:prstGeom prst="line">
            <a:avLst/>
          </a:prstGeom>
          <a:ln w="9525">
            <a:solidFill>
              <a:srgbClr val="E2E8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78331" y="1460087"/>
            <a:ext cx="787337" cy="0"/>
          </a:xfrm>
          <a:prstGeom prst="line">
            <a:avLst/>
          </a:prstGeom>
          <a:ln w="9525">
            <a:solidFill>
              <a:srgbClr val="E2E8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99068" y="1371600"/>
            <a:ext cx="787432" cy="0"/>
          </a:xfrm>
          <a:prstGeom prst="line">
            <a:avLst/>
          </a:prstGeom>
          <a:ln w="9525">
            <a:solidFill>
              <a:srgbClr val="E2E8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19900" y="1504378"/>
            <a:ext cx="787431" cy="0"/>
          </a:xfrm>
          <a:prstGeom prst="line">
            <a:avLst/>
          </a:prstGeom>
          <a:ln w="9525">
            <a:solidFill>
              <a:srgbClr val="E2E8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-1587531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266700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Logistics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131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Rework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4868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FX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5700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Scope savings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16531" y="42005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19" b="0">
                <a:solidFill>
                  <a:srgbClr val="555555"/>
                </a:solidFill>
                <a:latin typeface="Poppins"/>
              </a:rPr>
              <a:t>Forecast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600" y="4114800"/>
            <a:ext cx="7924800" cy="0"/>
          </a:xfrm>
          <a:prstGeom prst="line">
            <a:avLst/>
          </a:prstGeom>
          <a:ln w="9525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04800" y="48101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