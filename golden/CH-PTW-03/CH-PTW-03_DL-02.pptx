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304800"/>
            <a:ext cx="5715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Rethink Sans"/>
              </a:rPr>
              <a:t>Complete work holds 62% of total scope</a:t>
            </a:r>
          </a:p>
        </p:txBody>
      </p:sp>
      <p:sp>
        <p:nvSpPr>
          <p:cNvPr id="4" name="Freeform 3"/>
          <p:cNvSpPr/>
          <p:nvPr/>
        </p:nvSpPr>
        <p:spPr>
          <a:xfrm>
            <a:off x="3019425" y="1524000"/>
            <a:ext cx="2409825" cy="2857500"/>
          </a:xfrm>
          <a:custGeom>
            <a:avLst/>
            <a:gdLst/>
            <a:ahLst/>
            <a:cxnLst/>
            <a:rect l="l" t="t" r="r" b="b"/>
            <a:pathLst>
              <a:path w="253" h="300">
                <a:moveTo>
                  <a:pt x="103" y="150"/>
                </a:moveTo>
                <a:lnTo>
                  <a:pt x="103" y="0"/>
                </a:lnTo>
                <a:lnTo>
                  <a:pt x="127" y="2"/>
                </a:lnTo>
                <a:lnTo>
                  <a:pt x="151" y="8"/>
                </a:lnTo>
                <a:lnTo>
                  <a:pt x="173" y="17"/>
                </a:lnTo>
                <a:lnTo>
                  <a:pt x="194" y="31"/>
                </a:lnTo>
                <a:lnTo>
                  <a:pt x="212" y="47"/>
                </a:lnTo>
                <a:lnTo>
                  <a:pt x="227" y="66"/>
                </a:lnTo>
                <a:lnTo>
                  <a:pt x="239" y="87"/>
                </a:lnTo>
                <a:lnTo>
                  <a:pt x="247" y="110"/>
                </a:lnTo>
                <a:lnTo>
                  <a:pt x="252" y="134"/>
                </a:lnTo>
                <a:lnTo>
                  <a:pt x="253" y="158"/>
                </a:lnTo>
                <a:lnTo>
                  <a:pt x="250" y="182"/>
                </a:lnTo>
                <a:lnTo>
                  <a:pt x="242" y="205"/>
                </a:lnTo>
                <a:lnTo>
                  <a:pt x="232" y="227"/>
                </a:lnTo>
                <a:lnTo>
                  <a:pt x="218" y="247"/>
                </a:lnTo>
                <a:lnTo>
                  <a:pt x="200" y="264"/>
                </a:lnTo>
                <a:lnTo>
                  <a:pt x="181" y="278"/>
                </a:lnTo>
                <a:lnTo>
                  <a:pt x="159" y="289"/>
                </a:lnTo>
                <a:lnTo>
                  <a:pt x="136" y="296"/>
                </a:lnTo>
                <a:lnTo>
                  <a:pt x="112" y="300"/>
                </a:lnTo>
                <a:lnTo>
                  <a:pt x="87" y="299"/>
                </a:lnTo>
                <a:lnTo>
                  <a:pt x="63" y="295"/>
                </a:lnTo>
                <a:lnTo>
                  <a:pt x="41" y="286"/>
                </a:lnTo>
                <a:lnTo>
                  <a:pt x="19" y="275"/>
                </a:lnTo>
                <a:lnTo>
                  <a:pt x="0" y="259"/>
                </a:lnTo>
                <a:close/>
              </a:path>
            </a:pathLst>
          </a:custGeom>
          <a:solidFill>
            <a:srgbClr val="00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23738" y="3475386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80" b="0">
                <a:solidFill>
                  <a:srgbClr val="222222"/>
                </a:solidFill>
                <a:latin typeface="Poppins"/>
              </a:rPr>
              <a:t>Complete  62%</a:t>
            </a:r>
          </a:p>
        </p:txBody>
      </p:sp>
      <p:sp>
        <p:nvSpPr>
          <p:cNvPr id="6" name="Freeform 5"/>
          <p:cNvSpPr/>
          <p:nvPr/>
        </p:nvSpPr>
        <p:spPr>
          <a:xfrm>
            <a:off x="2571750" y="1800225"/>
            <a:ext cx="1428750" cy="2190750"/>
          </a:xfrm>
          <a:custGeom>
            <a:avLst/>
            <a:gdLst/>
            <a:ahLst/>
            <a:cxnLst/>
            <a:rect l="l" t="t" r="r" b="b"/>
            <a:pathLst>
              <a:path w="150" h="230">
                <a:moveTo>
                  <a:pt x="150" y="121"/>
                </a:moveTo>
                <a:lnTo>
                  <a:pt x="47" y="230"/>
                </a:lnTo>
                <a:lnTo>
                  <a:pt x="40" y="223"/>
                </a:lnTo>
                <a:lnTo>
                  <a:pt x="32" y="214"/>
                </a:lnTo>
                <a:lnTo>
                  <a:pt x="26" y="205"/>
                </a:lnTo>
                <a:lnTo>
                  <a:pt x="20" y="196"/>
                </a:lnTo>
                <a:lnTo>
                  <a:pt x="15" y="186"/>
                </a:lnTo>
                <a:lnTo>
                  <a:pt x="11" y="176"/>
                </a:lnTo>
                <a:lnTo>
                  <a:pt x="7" y="166"/>
                </a:lnTo>
                <a:lnTo>
                  <a:pt x="4" y="155"/>
                </a:lnTo>
                <a:lnTo>
                  <a:pt x="2" y="144"/>
                </a:lnTo>
                <a:lnTo>
                  <a:pt x="1" y="134"/>
                </a:lnTo>
                <a:lnTo>
                  <a:pt x="0" y="123"/>
                </a:lnTo>
                <a:lnTo>
                  <a:pt x="0" y="112"/>
                </a:lnTo>
                <a:lnTo>
                  <a:pt x="1" y="101"/>
                </a:lnTo>
                <a:lnTo>
                  <a:pt x="3" y="90"/>
                </a:lnTo>
                <a:lnTo>
                  <a:pt x="6" y="79"/>
                </a:lnTo>
                <a:lnTo>
                  <a:pt x="9" y="69"/>
                </a:lnTo>
                <a:lnTo>
                  <a:pt x="14" y="59"/>
                </a:lnTo>
                <a:lnTo>
                  <a:pt x="19" y="49"/>
                </a:lnTo>
                <a:lnTo>
                  <a:pt x="24" y="39"/>
                </a:lnTo>
                <a:lnTo>
                  <a:pt x="31" y="30"/>
                </a:lnTo>
                <a:lnTo>
                  <a:pt x="37" y="22"/>
                </a:lnTo>
                <a:lnTo>
                  <a:pt x="45" y="14"/>
                </a:lnTo>
                <a:lnTo>
                  <a:pt x="53" y="6"/>
                </a:lnTo>
                <a:lnTo>
                  <a:pt x="62" y="0"/>
                </a:lnTo>
                <a:close/>
              </a:path>
            </a:pathLst>
          </a:custGeom>
          <a:solidFill>
            <a:srgbClr val="B7DCD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-3349561" y="2769393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80" b="0">
                <a:solidFill>
                  <a:srgbClr val="222222"/>
                </a:solidFill>
                <a:latin typeface="Poppins"/>
              </a:rPr>
              <a:t>Remaining  28%</a:t>
            </a:r>
          </a:p>
        </p:txBody>
      </p:sp>
      <p:sp>
        <p:nvSpPr>
          <p:cNvPr id="8" name="Freeform 7"/>
          <p:cNvSpPr/>
          <p:nvPr/>
        </p:nvSpPr>
        <p:spPr>
          <a:xfrm>
            <a:off x="3162300" y="1524000"/>
            <a:ext cx="838200" cy="1428750"/>
          </a:xfrm>
          <a:custGeom>
            <a:avLst/>
            <a:gdLst/>
            <a:ahLst/>
            <a:cxnLst/>
            <a:rect l="l" t="t" r="r" b="b"/>
            <a:pathLst>
              <a:path w="88" h="150">
                <a:moveTo>
                  <a:pt x="88" y="150"/>
                </a:moveTo>
                <a:lnTo>
                  <a:pt x="0" y="29"/>
                </a:lnTo>
                <a:lnTo>
                  <a:pt x="3" y="26"/>
                </a:lnTo>
                <a:lnTo>
                  <a:pt x="6" y="24"/>
                </a:lnTo>
                <a:lnTo>
                  <a:pt x="10" y="22"/>
                </a:lnTo>
                <a:lnTo>
                  <a:pt x="13" y="20"/>
                </a:lnTo>
                <a:lnTo>
                  <a:pt x="16" y="18"/>
                </a:lnTo>
                <a:lnTo>
                  <a:pt x="20" y="16"/>
                </a:lnTo>
                <a:lnTo>
                  <a:pt x="23" y="15"/>
                </a:lnTo>
                <a:lnTo>
                  <a:pt x="27" y="13"/>
                </a:lnTo>
                <a:lnTo>
                  <a:pt x="31" y="11"/>
                </a:lnTo>
                <a:lnTo>
                  <a:pt x="34" y="10"/>
                </a:lnTo>
                <a:lnTo>
                  <a:pt x="38" y="9"/>
                </a:lnTo>
                <a:lnTo>
                  <a:pt x="42" y="7"/>
                </a:lnTo>
                <a:lnTo>
                  <a:pt x="45" y="6"/>
                </a:lnTo>
                <a:lnTo>
                  <a:pt x="49" y="5"/>
                </a:lnTo>
                <a:lnTo>
                  <a:pt x="53" y="4"/>
                </a:lnTo>
                <a:lnTo>
                  <a:pt x="57" y="3"/>
                </a:lnTo>
                <a:lnTo>
                  <a:pt x="61" y="3"/>
                </a:lnTo>
                <a:lnTo>
                  <a:pt x="65" y="2"/>
                </a:lnTo>
                <a:lnTo>
                  <a:pt x="68" y="1"/>
                </a:lnTo>
                <a:lnTo>
                  <a:pt x="72" y="1"/>
                </a:lnTo>
                <a:lnTo>
                  <a:pt x="76" y="0"/>
                </a:lnTo>
                <a:lnTo>
                  <a:pt x="80" y="0"/>
                </a:lnTo>
                <a:lnTo>
                  <a:pt x="84" y="0"/>
                </a:lnTo>
                <a:lnTo>
                  <a:pt x="88" y="0"/>
                </a:lnTo>
                <a:close/>
              </a:path>
            </a:pathLst>
          </a:custGeom>
          <a:solidFill>
            <a:srgbClr val="AAAAA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2220753" y="1314164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80" b="0">
                <a:solidFill>
                  <a:srgbClr val="222222"/>
                </a:solidFill>
                <a:latin typeface="Poppins"/>
              </a:rPr>
              <a:t>On hold  10%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48101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Source: sample dataset v1, 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