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266700" cy="38100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33400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4A4E57"/>
                </a:solidFill>
                <a:latin typeface="Segoe UI"/>
              </a:rPr>
              <a:t>COST BRIDGE . JUNE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700"/>
            <a:ext cx="5715000" cy="400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262A33"/>
                </a:solidFill>
                <a:latin typeface="Oswald"/>
              </a:rPr>
              <a:t>Forecast lands 18 points over budget; logistics drives two thirds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952500" y="400050"/>
            <a:ext cx="10287000" cy="5786437"/>
          </a:xfrm>
          <a:prstGeom prst="rect">
            <a:avLst/>
          </a:prstGeom>
          <a:solidFill>
            <a:srgbClr val="FD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81176" y="2540388"/>
            <a:ext cx="600075" cy="2488811"/>
          </a:xfrm>
          <a:prstGeom prst="rect">
            <a:avLst/>
          </a:prstGeom>
          <a:solidFill>
            <a:srgbClr val="26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-833473" y="2326076"/>
            <a:ext cx="6429375" cy="1928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10" b="0">
                <a:solidFill>
                  <a:srgbClr val="262A33"/>
                </a:solidFill>
                <a:latin typeface="Segoe UI"/>
              </a:rPr>
              <a:t>100 pts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7112" y="2241744"/>
            <a:ext cx="600075" cy="298644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2462" y="2027431"/>
            <a:ext cx="6429375" cy="1928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10" b="0">
                <a:solidFill>
                  <a:srgbClr val="262A33"/>
                </a:solidFill>
                <a:latin typeface="Segoe UI"/>
              </a:rPr>
              <a:t>+12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53048" y="2042648"/>
            <a:ext cx="600075" cy="199096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38398" y="1828335"/>
            <a:ext cx="6429375" cy="1928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10" b="0">
                <a:solidFill>
                  <a:srgbClr val="262A33"/>
                </a:solidFill>
                <a:latin typeface="Segoe UI"/>
              </a:rPr>
              <a:t>+8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8876" y="1943100"/>
            <a:ext cx="600075" cy="99548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4226" y="1728787"/>
            <a:ext cx="6429375" cy="1928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10" b="0">
                <a:solidFill>
                  <a:srgbClr val="262A33"/>
                </a:solidFill>
                <a:latin typeface="Segoe UI"/>
              </a:rPr>
              <a:t>+4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24812" y="1943100"/>
            <a:ext cx="600075" cy="149375"/>
          </a:xfrm>
          <a:prstGeom prst="rect">
            <a:avLst/>
          </a:prstGeom>
          <a:solidFill>
            <a:srgbClr val="2E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10162" y="1728787"/>
            <a:ext cx="6429375" cy="1928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10" b="0">
                <a:solidFill>
                  <a:srgbClr val="262A33"/>
                </a:solidFill>
                <a:latin typeface="Segoe UI"/>
              </a:rPr>
              <a:t>-6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10748" y="2092475"/>
            <a:ext cx="600075" cy="2936724"/>
          </a:xfrm>
          <a:prstGeom prst="rect">
            <a:avLst/>
          </a:prstGeom>
          <a:solidFill>
            <a:srgbClr val="26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96098" y="1878163"/>
            <a:ext cx="6429375" cy="1928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10" b="1">
                <a:solidFill>
                  <a:srgbClr val="262A33"/>
                </a:solidFill>
                <a:latin typeface="Segoe UI"/>
              </a:rPr>
              <a:t>118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681251" y="2540388"/>
            <a:ext cx="885861" cy="0"/>
          </a:xfrm>
          <a:prstGeom prst="line">
            <a:avLst/>
          </a:prstGeom>
          <a:ln w="10715">
            <a:solidFill>
              <a:srgbClr val="E8E0D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167187" y="2241744"/>
            <a:ext cx="885861" cy="0"/>
          </a:xfrm>
          <a:prstGeom prst="line">
            <a:avLst/>
          </a:prstGeom>
          <a:ln w="10715">
            <a:solidFill>
              <a:srgbClr val="E8E0D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653123" y="2042648"/>
            <a:ext cx="885753" cy="0"/>
          </a:xfrm>
          <a:prstGeom prst="line">
            <a:avLst/>
          </a:prstGeom>
          <a:ln w="10715">
            <a:solidFill>
              <a:srgbClr val="E8E0D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138951" y="1943100"/>
            <a:ext cx="885861" cy="0"/>
          </a:xfrm>
          <a:prstGeom prst="line">
            <a:avLst/>
          </a:prstGeom>
          <a:ln w="10715">
            <a:solidFill>
              <a:srgbClr val="E8E0D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624887" y="2092475"/>
            <a:ext cx="885861" cy="0"/>
          </a:xfrm>
          <a:prstGeom prst="line">
            <a:avLst/>
          </a:prstGeom>
          <a:ln w="10715">
            <a:solidFill>
              <a:srgbClr val="E8E0D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-833473" y="5136356"/>
            <a:ext cx="6429375" cy="1607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40" b="0">
                <a:solidFill>
                  <a:srgbClr val="4A4E57"/>
                </a:solidFill>
                <a:latin typeface="Segoe UI"/>
              </a:rPr>
              <a:t>Budget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462" y="5136356"/>
            <a:ext cx="6429375" cy="1607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40" b="0">
                <a:solidFill>
                  <a:srgbClr val="4A4E57"/>
                </a:solidFill>
                <a:latin typeface="Segoe UI"/>
              </a:rPr>
              <a:t>Logistics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38398" y="5136356"/>
            <a:ext cx="6429375" cy="1607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40" b="0">
                <a:solidFill>
                  <a:srgbClr val="4A4E57"/>
                </a:solidFill>
                <a:latin typeface="Segoe UI"/>
              </a:rPr>
              <a:t>Rework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24226" y="5136356"/>
            <a:ext cx="6429375" cy="1607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40" b="0">
                <a:solidFill>
                  <a:srgbClr val="4A4E57"/>
                </a:solidFill>
                <a:latin typeface="Segoe UI"/>
              </a:rPr>
              <a:t>FX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10162" y="5136356"/>
            <a:ext cx="6429375" cy="1607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40" b="0">
                <a:solidFill>
                  <a:srgbClr val="4A4E57"/>
                </a:solidFill>
                <a:latin typeface="Segoe UI"/>
              </a:rPr>
              <a:t>Scope savings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96098" y="5136356"/>
            <a:ext cx="6429375" cy="1607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40" b="0">
                <a:solidFill>
                  <a:srgbClr val="4A4E57"/>
                </a:solidFill>
                <a:latin typeface="Segoe UI"/>
              </a:rPr>
              <a:t>Forecast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638300" y="5029200"/>
            <a:ext cx="8915400" cy="0"/>
          </a:xfrm>
          <a:prstGeom prst="line">
            <a:avLst/>
          </a:prstGeom>
          <a:ln w="10715">
            <a:solidFill>
              <a:srgbClr val="E8E0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7200" y="64484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4A4E57"/>
                </a:solidFill>
                <a:latin typeface="Segoe UI"/>
              </a:rPr>
              <a:t>Source: sample dataset v1, 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