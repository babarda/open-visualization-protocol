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Complete work holds 62% of total scope</a:t>
            </a:r>
          </a:p>
        </p:txBody>
      </p:sp>
      <p:sp>
        <p:nvSpPr>
          <p:cNvPr id="4" name="Freeform 3"/>
          <p:cNvSpPr/>
          <p:nvPr/>
        </p:nvSpPr>
        <p:spPr>
          <a:xfrm>
            <a:off x="3019425" y="1524000"/>
            <a:ext cx="2409825" cy="2857500"/>
          </a:xfrm>
          <a:custGeom>
            <a:avLst/>
            <a:gdLst/>
            <a:ahLst/>
            <a:cxnLst/>
            <a:rect l="l" t="t" r="r" b="b"/>
            <a:pathLst>
              <a:path w="253" h="300">
                <a:moveTo>
                  <a:pt x="103" y="0"/>
                </a:moveTo>
                <a:lnTo>
                  <a:pt x="127" y="2"/>
                </a:lnTo>
                <a:lnTo>
                  <a:pt x="151" y="8"/>
                </a:lnTo>
                <a:lnTo>
                  <a:pt x="173" y="17"/>
                </a:lnTo>
                <a:lnTo>
                  <a:pt x="194" y="31"/>
                </a:lnTo>
                <a:lnTo>
                  <a:pt x="212" y="47"/>
                </a:lnTo>
                <a:lnTo>
                  <a:pt x="227" y="66"/>
                </a:lnTo>
                <a:lnTo>
                  <a:pt x="239" y="87"/>
                </a:lnTo>
                <a:lnTo>
                  <a:pt x="247" y="110"/>
                </a:lnTo>
                <a:lnTo>
                  <a:pt x="252" y="134"/>
                </a:lnTo>
                <a:lnTo>
                  <a:pt x="253" y="158"/>
                </a:lnTo>
                <a:lnTo>
                  <a:pt x="250" y="182"/>
                </a:lnTo>
                <a:lnTo>
                  <a:pt x="242" y="205"/>
                </a:lnTo>
                <a:lnTo>
                  <a:pt x="232" y="227"/>
                </a:lnTo>
                <a:lnTo>
                  <a:pt x="218" y="247"/>
                </a:lnTo>
                <a:lnTo>
                  <a:pt x="200" y="264"/>
                </a:lnTo>
                <a:lnTo>
                  <a:pt x="181" y="278"/>
                </a:lnTo>
                <a:lnTo>
                  <a:pt x="159" y="289"/>
                </a:lnTo>
                <a:lnTo>
                  <a:pt x="136" y="296"/>
                </a:lnTo>
                <a:lnTo>
                  <a:pt x="112" y="300"/>
                </a:lnTo>
                <a:lnTo>
                  <a:pt x="87" y="299"/>
                </a:lnTo>
                <a:lnTo>
                  <a:pt x="63" y="295"/>
                </a:lnTo>
                <a:lnTo>
                  <a:pt x="41" y="286"/>
                </a:lnTo>
                <a:lnTo>
                  <a:pt x="19" y="275"/>
                </a:lnTo>
                <a:lnTo>
                  <a:pt x="0" y="259"/>
                </a:lnTo>
                <a:lnTo>
                  <a:pt x="40" y="217"/>
                </a:lnTo>
                <a:lnTo>
                  <a:pt x="52" y="226"/>
                </a:lnTo>
                <a:lnTo>
                  <a:pt x="65" y="234"/>
                </a:lnTo>
                <a:lnTo>
                  <a:pt x="79" y="239"/>
                </a:lnTo>
                <a:lnTo>
                  <a:pt x="93" y="241"/>
                </a:lnTo>
                <a:lnTo>
                  <a:pt x="108" y="242"/>
                </a:lnTo>
                <a:lnTo>
                  <a:pt x="123" y="240"/>
                </a:lnTo>
                <a:lnTo>
                  <a:pt x="137" y="235"/>
                </a:lnTo>
                <a:lnTo>
                  <a:pt x="151" y="229"/>
                </a:lnTo>
                <a:lnTo>
                  <a:pt x="163" y="220"/>
                </a:lnTo>
                <a:lnTo>
                  <a:pt x="173" y="209"/>
                </a:lnTo>
                <a:lnTo>
                  <a:pt x="182" y="197"/>
                </a:lnTo>
                <a:lnTo>
                  <a:pt x="189" y="184"/>
                </a:lnTo>
                <a:lnTo>
                  <a:pt x="193" y="170"/>
                </a:lnTo>
                <a:lnTo>
                  <a:pt x="195" y="155"/>
                </a:lnTo>
                <a:lnTo>
                  <a:pt x="194" y="140"/>
                </a:lnTo>
                <a:lnTo>
                  <a:pt x="192" y="125"/>
                </a:lnTo>
                <a:lnTo>
                  <a:pt x="186" y="111"/>
                </a:lnTo>
                <a:lnTo>
                  <a:pt x="179" y="98"/>
                </a:lnTo>
                <a:lnTo>
                  <a:pt x="170" y="87"/>
                </a:lnTo>
                <a:lnTo>
                  <a:pt x="159" y="77"/>
                </a:lnTo>
                <a:lnTo>
                  <a:pt x="146" y="69"/>
                </a:lnTo>
                <a:lnTo>
                  <a:pt x="132" y="63"/>
                </a:lnTo>
                <a:lnTo>
                  <a:pt x="118" y="59"/>
                </a:lnTo>
                <a:lnTo>
                  <a:pt x="103" y="58"/>
                </a:lnTo>
                <a:close/>
              </a:path>
            </a:pathLst>
          </a:custGeom>
          <a:solidFill>
            <a:srgbClr val="00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23738" y="3475386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22222"/>
                </a:solidFill>
                <a:latin typeface="Poppins"/>
              </a:rPr>
              <a:t>Complete  62%</a:t>
            </a:r>
          </a:p>
        </p:txBody>
      </p:sp>
      <p:sp>
        <p:nvSpPr>
          <p:cNvPr id="6" name="Freeform 5"/>
          <p:cNvSpPr/>
          <p:nvPr/>
        </p:nvSpPr>
        <p:spPr>
          <a:xfrm>
            <a:off x="2571750" y="1800225"/>
            <a:ext cx="914400" cy="2190750"/>
          </a:xfrm>
          <a:custGeom>
            <a:avLst/>
            <a:gdLst/>
            <a:ahLst/>
            <a:cxnLst/>
            <a:rect l="l" t="t" r="r" b="b"/>
            <a:pathLst>
              <a:path w="96" h="230">
                <a:moveTo>
                  <a:pt x="47" y="230"/>
                </a:moveTo>
                <a:lnTo>
                  <a:pt x="40" y="223"/>
                </a:lnTo>
                <a:lnTo>
                  <a:pt x="32" y="214"/>
                </a:lnTo>
                <a:lnTo>
                  <a:pt x="26" y="205"/>
                </a:lnTo>
                <a:lnTo>
                  <a:pt x="20" y="196"/>
                </a:lnTo>
                <a:lnTo>
                  <a:pt x="15" y="186"/>
                </a:lnTo>
                <a:lnTo>
                  <a:pt x="11" y="176"/>
                </a:lnTo>
                <a:lnTo>
                  <a:pt x="7" y="166"/>
                </a:lnTo>
                <a:lnTo>
                  <a:pt x="4" y="155"/>
                </a:lnTo>
                <a:lnTo>
                  <a:pt x="2" y="144"/>
                </a:lnTo>
                <a:lnTo>
                  <a:pt x="1" y="134"/>
                </a:lnTo>
                <a:lnTo>
                  <a:pt x="0" y="123"/>
                </a:lnTo>
                <a:lnTo>
                  <a:pt x="0" y="112"/>
                </a:lnTo>
                <a:lnTo>
                  <a:pt x="1" y="101"/>
                </a:lnTo>
                <a:lnTo>
                  <a:pt x="3" y="90"/>
                </a:lnTo>
                <a:lnTo>
                  <a:pt x="6" y="79"/>
                </a:lnTo>
                <a:lnTo>
                  <a:pt x="9" y="69"/>
                </a:lnTo>
                <a:lnTo>
                  <a:pt x="14" y="59"/>
                </a:lnTo>
                <a:lnTo>
                  <a:pt x="19" y="49"/>
                </a:lnTo>
                <a:lnTo>
                  <a:pt x="24" y="39"/>
                </a:lnTo>
                <a:lnTo>
                  <a:pt x="31" y="30"/>
                </a:lnTo>
                <a:lnTo>
                  <a:pt x="37" y="22"/>
                </a:lnTo>
                <a:lnTo>
                  <a:pt x="45" y="14"/>
                </a:lnTo>
                <a:lnTo>
                  <a:pt x="53" y="6"/>
                </a:lnTo>
                <a:lnTo>
                  <a:pt x="62" y="0"/>
                </a:lnTo>
                <a:lnTo>
                  <a:pt x="96" y="47"/>
                </a:lnTo>
                <a:lnTo>
                  <a:pt x="91" y="51"/>
                </a:lnTo>
                <a:lnTo>
                  <a:pt x="86" y="55"/>
                </a:lnTo>
                <a:lnTo>
                  <a:pt x="81" y="60"/>
                </a:lnTo>
                <a:lnTo>
                  <a:pt x="77" y="65"/>
                </a:lnTo>
                <a:lnTo>
                  <a:pt x="73" y="71"/>
                </a:lnTo>
                <a:lnTo>
                  <a:pt x="69" y="77"/>
                </a:lnTo>
                <a:lnTo>
                  <a:pt x="66" y="83"/>
                </a:lnTo>
                <a:lnTo>
                  <a:pt x="64" y="89"/>
                </a:lnTo>
                <a:lnTo>
                  <a:pt x="62" y="95"/>
                </a:lnTo>
                <a:lnTo>
                  <a:pt x="60" y="102"/>
                </a:lnTo>
                <a:lnTo>
                  <a:pt x="59" y="109"/>
                </a:lnTo>
                <a:lnTo>
                  <a:pt x="58" y="115"/>
                </a:lnTo>
                <a:lnTo>
                  <a:pt x="58" y="122"/>
                </a:lnTo>
                <a:lnTo>
                  <a:pt x="58" y="129"/>
                </a:lnTo>
                <a:lnTo>
                  <a:pt x="59" y="135"/>
                </a:lnTo>
                <a:lnTo>
                  <a:pt x="60" y="142"/>
                </a:lnTo>
                <a:lnTo>
                  <a:pt x="62" y="149"/>
                </a:lnTo>
                <a:lnTo>
                  <a:pt x="64" y="155"/>
                </a:lnTo>
                <a:lnTo>
                  <a:pt x="67" y="161"/>
                </a:lnTo>
                <a:lnTo>
                  <a:pt x="70" y="167"/>
                </a:lnTo>
                <a:lnTo>
                  <a:pt x="74" y="173"/>
                </a:lnTo>
                <a:lnTo>
                  <a:pt x="78" y="178"/>
                </a:lnTo>
                <a:lnTo>
                  <a:pt x="82" y="183"/>
                </a:lnTo>
                <a:lnTo>
                  <a:pt x="87" y="188"/>
                </a:lnTo>
                <a:close/>
              </a:path>
            </a:pathLst>
          </a:custGeom>
          <a:solidFill>
            <a:srgbClr val="B7DC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3349561" y="276939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222222"/>
                </a:solidFill>
                <a:latin typeface="Poppins"/>
              </a:rPr>
              <a:t>Remaining  28%</a:t>
            </a:r>
          </a:p>
        </p:txBody>
      </p:sp>
      <p:sp>
        <p:nvSpPr>
          <p:cNvPr id="8" name="Freeform 7"/>
          <p:cNvSpPr/>
          <p:nvPr/>
        </p:nvSpPr>
        <p:spPr>
          <a:xfrm>
            <a:off x="3162300" y="1524000"/>
            <a:ext cx="838200" cy="723900"/>
          </a:xfrm>
          <a:custGeom>
            <a:avLst/>
            <a:gdLst/>
            <a:ahLst/>
            <a:cxnLst/>
            <a:rect l="l" t="t" r="r" b="b"/>
            <a:pathLst>
              <a:path w="88" h="76">
                <a:moveTo>
                  <a:pt x="0" y="29"/>
                </a:moveTo>
                <a:lnTo>
                  <a:pt x="3" y="26"/>
                </a:lnTo>
                <a:lnTo>
                  <a:pt x="6" y="24"/>
                </a:lnTo>
                <a:lnTo>
                  <a:pt x="10" y="22"/>
                </a:lnTo>
                <a:lnTo>
                  <a:pt x="13" y="20"/>
                </a:lnTo>
                <a:lnTo>
                  <a:pt x="16" y="18"/>
                </a:lnTo>
                <a:lnTo>
                  <a:pt x="20" y="16"/>
                </a:lnTo>
                <a:lnTo>
                  <a:pt x="23" y="15"/>
                </a:lnTo>
                <a:lnTo>
                  <a:pt x="27" y="13"/>
                </a:lnTo>
                <a:lnTo>
                  <a:pt x="31" y="11"/>
                </a:lnTo>
                <a:lnTo>
                  <a:pt x="34" y="10"/>
                </a:lnTo>
                <a:lnTo>
                  <a:pt x="38" y="9"/>
                </a:lnTo>
                <a:lnTo>
                  <a:pt x="42" y="7"/>
                </a:lnTo>
                <a:lnTo>
                  <a:pt x="45" y="6"/>
                </a:lnTo>
                <a:lnTo>
                  <a:pt x="49" y="5"/>
                </a:lnTo>
                <a:lnTo>
                  <a:pt x="53" y="4"/>
                </a:lnTo>
                <a:lnTo>
                  <a:pt x="57" y="3"/>
                </a:lnTo>
                <a:lnTo>
                  <a:pt x="61" y="3"/>
                </a:lnTo>
                <a:lnTo>
                  <a:pt x="65" y="2"/>
                </a:lnTo>
                <a:lnTo>
                  <a:pt x="68" y="1"/>
                </a:lnTo>
                <a:lnTo>
                  <a:pt x="72" y="1"/>
                </a:lnTo>
                <a:lnTo>
                  <a:pt x="76" y="0"/>
                </a:lnTo>
                <a:lnTo>
                  <a:pt x="80" y="0"/>
                </a:lnTo>
                <a:lnTo>
                  <a:pt x="84" y="0"/>
                </a:lnTo>
                <a:lnTo>
                  <a:pt x="88" y="0"/>
                </a:lnTo>
                <a:lnTo>
                  <a:pt x="88" y="58"/>
                </a:lnTo>
                <a:lnTo>
                  <a:pt x="86" y="58"/>
                </a:lnTo>
                <a:lnTo>
                  <a:pt x="83" y="58"/>
                </a:lnTo>
                <a:lnTo>
                  <a:pt x="81" y="58"/>
                </a:lnTo>
                <a:lnTo>
                  <a:pt x="78" y="59"/>
                </a:lnTo>
                <a:lnTo>
                  <a:pt x="76" y="59"/>
                </a:lnTo>
                <a:lnTo>
                  <a:pt x="74" y="59"/>
                </a:lnTo>
                <a:lnTo>
                  <a:pt x="71" y="60"/>
                </a:lnTo>
                <a:lnTo>
                  <a:pt x="69" y="60"/>
                </a:lnTo>
                <a:lnTo>
                  <a:pt x="67" y="61"/>
                </a:lnTo>
                <a:lnTo>
                  <a:pt x="64" y="61"/>
                </a:lnTo>
                <a:lnTo>
                  <a:pt x="62" y="62"/>
                </a:lnTo>
                <a:lnTo>
                  <a:pt x="60" y="63"/>
                </a:lnTo>
                <a:lnTo>
                  <a:pt x="57" y="63"/>
                </a:lnTo>
                <a:lnTo>
                  <a:pt x="55" y="64"/>
                </a:lnTo>
                <a:lnTo>
                  <a:pt x="53" y="65"/>
                </a:lnTo>
                <a:lnTo>
                  <a:pt x="51" y="66"/>
                </a:lnTo>
                <a:lnTo>
                  <a:pt x="48" y="67"/>
                </a:lnTo>
                <a:lnTo>
                  <a:pt x="46" y="68"/>
                </a:lnTo>
                <a:lnTo>
                  <a:pt x="44" y="69"/>
                </a:lnTo>
                <a:lnTo>
                  <a:pt x="42" y="70"/>
                </a:lnTo>
                <a:lnTo>
                  <a:pt x="40" y="72"/>
                </a:lnTo>
                <a:lnTo>
                  <a:pt x="38" y="73"/>
                </a:lnTo>
                <a:lnTo>
                  <a:pt x="36" y="74"/>
                </a:lnTo>
                <a:lnTo>
                  <a:pt x="34" y="76"/>
                </a:lnTo>
                <a:close/>
              </a:path>
            </a:pathLst>
          </a:custGeom>
          <a:solidFill>
            <a:srgbClr val="AAAAA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2220753" y="1314164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222222"/>
                </a:solidFill>
                <a:latin typeface="Poppins"/>
              </a:rPr>
              <a:t>On hold  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