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57150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43D59"/>
                </a:solidFill>
                <a:latin typeface="Segoe UI"/>
              </a:rPr>
              <a:t>Two of five systems are handover-ready; System D is critical in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1000"/>
            <a:ext cx="8572500" cy="4822031"/>
          </a:xfrm>
          <a:prstGeom prst="rect">
            <a:avLst/>
          </a:prstGeom>
          <a:solidFill>
            <a:srgbClr val="FBF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50293" y="1532929"/>
            <a:ext cx="5357812" cy="12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30" b="1">
                <a:solidFill>
                  <a:srgbClr val="33424E"/>
                </a:solidFill>
                <a:latin typeface="Segoe UI"/>
              </a:rPr>
              <a:t>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5496" y="1532929"/>
            <a:ext cx="5357812" cy="12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30" b="1">
                <a:solidFill>
                  <a:srgbClr val="33424E"/>
                </a:solidFill>
                <a:latin typeface="Segoe UI"/>
              </a:rPr>
              <a:t>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700" y="1532929"/>
            <a:ext cx="5357812" cy="12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30" b="1">
                <a:solidFill>
                  <a:srgbClr val="33424E"/>
                </a:solidFill>
                <a:latin typeface="Segoe UI"/>
              </a:rPr>
              <a:t>PUNCH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5903" y="1532929"/>
            <a:ext cx="5357812" cy="12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30" b="1">
                <a:solidFill>
                  <a:srgbClr val="33424E"/>
                </a:solidFill>
                <a:latin typeface="Segoe UI"/>
              </a:rPr>
              <a:t>HANDOVER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2950" y="1738312"/>
            <a:ext cx="8001000" cy="0"/>
          </a:xfrm>
          <a:prstGeom prst="line">
            <a:avLst/>
          </a:prstGeom>
          <a:ln w="8929">
            <a:solidFill>
              <a:srgbClr val="C6D5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3257550" y="1870918"/>
            <a:ext cx="5357812" cy="147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1">
                <a:solidFill>
                  <a:srgbClr val="143D59"/>
                </a:solidFill>
                <a:latin typeface="Segoe UI"/>
              </a:rPr>
              <a:t>System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293" y="1899046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5309" y="1876722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5496" y="1899046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0512" y="1876722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00700" y="1899046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5715" y="1876722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5903" y="1899046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0918" y="1876722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2950" y="2131218"/>
            <a:ext cx="8001000" cy="0"/>
          </a:xfrm>
          <a:prstGeom prst="line">
            <a:avLst/>
          </a:prstGeom>
          <a:ln w="8929">
            <a:solidFill>
              <a:srgbClr val="C6D5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3257550" y="2263824"/>
            <a:ext cx="5357812" cy="147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1">
                <a:solidFill>
                  <a:srgbClr val="143D59"/>
                </a:solidFill>
                <a:latin typeface="Segoe UI"/>
              </a:rPr>
              <a:t>System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0293" y="2291953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75309" y="2269628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5496" y="2291953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00512" y="2269628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00700" y="2291953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5715" y="2269628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5903" y="2291953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0918" y="2269628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2950" y="2524125"/>
            <a:ext cx="8001000" cy="0"/>
          </a:xfrm>
          <a:prstGeom prst="line">
            <a:avLst/>
          </a:prstGeom>
          <a:ln w="8929">
            <a:solidFill>
              <a:srgbClr val="C6D5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-3257550" y="2656730"/>
            <a:ext cx="5357812" cy="147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1">
                <a:solidFill>
                  <a:srgbClr val="143D59"/>
                </a:solidFill>
                <a:latin typeface="Segoe UI"/>
              </a:rPr>
              <a:t>System 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0293" y="2684859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75309" y="2662535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5496" y="2684859"/>
            <a:ext cx="71437" cy="71437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0512" y="2662535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ON TRACK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00700" y="2684859"/>
            <a:ext cx="71437" cy="71437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5715" y="2662535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WATCH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5903" y="2684859"/>
            <a:ext cx="71437" cy="71437"/>
          </a:xfrm>
          <a:prstGeom prst="rect">
            <a:avLst/>
          </a:prstGeom>
          <a:solidFill>
            <a:srgbClr val="C6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50918" y="2662535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-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2950" y="2917031"/>
            <a:ext cx="8001000" cy="0"/>
          </a:xfrm>
          <a:prstGeom prst="line">
            <a:avLst/>
          </a:prstGeom>
          <a:ln w="8929">
            <a:solidFill>
              <a:srgbClr val="C6D5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-3257550" y="3049637"/>
            <a:ext cx="5357812" cy="147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1">
                <a:solidFill>
                  <a:srgbClr val="143D59"/>
                </a:solidFill>
                <a:latin typeface="Segoe UI"/>
              </a:rPr>
              <a:t>System 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293" y="3077765"/>
            <a:ext cx="71437" cy="71437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75309" y="3055441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5496" y="3077765"/>
            <a:ext cx="71437" cy="71437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00512" y="3055441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CRITICAL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00700" y="3077765"/>
            <a:ext cx="71437" cy="71437"/>
          </a:xfrm>
          <a:prstGeom prst="rect">
            <a:avLst/>
          </a:prstGeom>
          <a:solidFill>
            <a:srgbClr val="C6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25715" y="3055441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5903" y="3077765"/>
            <a:ext cx="71437" cy="71437"/>
          </a:xfrm>
          <a:prstGeom prst="rect">
            <a:avLst/>
          </a:prstGeom>
          <a:solidFill>
            <a:srgbClr val="C6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50918" y="3055441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-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2950" y="3309937"/>
            <a:ext cx="8001000" cy="0"/>
          </a:xfrm>
          <a:prstGeom prst="line">
            <a:avLst/>
          </a:prstGeom>
          <a:ln w="8929">
            <a:solidFill>
              <a:srgbClr val="C6D5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-3257550" y="3442543"/>
            <a:ext cx="5357812" cy="147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1">
                <a:solidFill>
                  <a:srgbClr val="143D59"/>
                </a:solidFill>
                <a:latin typeface="Segoe UI"/>
              </a:rPr>
              <a:t>System 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50293" y="3470671"/>
            <a:ext cx="71437" cy="71437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75309" y="3448347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ON TRACK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5496" y="3470671"/>
            <a:ext cx="71437" cy="71437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00512" y="3448347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WATCH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00700" y="3470671"/>
            <a:ext cx="71437" cy="71437"/>
          </a:xfrm>
          <a:prstGeom prst="rect">
            <a:avLst/>
          </a:prstGeom>
          <a:solidFill>
            <a:srgbClr val="C6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25715" y="3448347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5903" y="3470671"/>
            <a:ext cx="71437" cy="71437"/>
          </a:xfrm>
          <a:prstGeom prst="rect">
            <a:avLst/>
          </a:prstGeom>
          <a:solidFill>
            <a:srgbClr val="C6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50918" y="3448347"/>
            <a:ext cx="5357812" cy="1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33424E"/>
                </a:solidFill>
                <a:latin typeface="Segoe UI"/>
              </a:rPr>
              <a:t>-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42950" y="3702843"/>
            <a:ext cx="8001000" cy="0"/>
          </a:xfrm>
          <a:prstGeom prst="line">
            <a:avLst/>
          </a:prstGeom>
          <a:ln w="8929">
            <a:solidFill>
              <a:srgbClr val="C6D5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391650" y="1428750"/>
            <a:ext cx="1714500" cy="228600"/>
          </a:xfrm>
          <a:prstGeom prst="roundRect">
            <a:avLst>
              <a:gd name="adj" fmla="val 16666"/>
            </a:avLst>
          </a:prstGeom>
          <a:noFill/>
          <a:ln w="14287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458325" y="1514475"/>
            <a:ext cx="57150" cy="57150"/>
          </a:xfrm>
          <a:prstGeom prst="ellipse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82150" y="14811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143D59"/>
                </a:solidFill>
                <a:latin typeface="Segoe UI"/>
              </a:rPr>
              <a:t>CRITICAL . SYS 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91650" y="1905000"/>
            <a:ext cx="2343150" cy="762000"/>
          </a:xfrm>
          <a:prstGeom prst="rect">
            <a:avLst/>
          </a:prstGeom>
          <a:solidFill>
            <a:srgbClr val="EDF3F7"/>
          </a:solidFill>
          <a:ln w="9525">
            <a:solidFill>
              <a:srgbClr val="C6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91650" y="1905000"/>
            <a:ext cx="38100" cy="762000"/>
          </a:xfrm>
          <a:prstGeom prst="rect">
            <a:avLst/>
          </a:prstGeom>
          <a:solidFill>
            <a:srgbClr val="1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44050" y="19907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3D59"/>
                </a:solidFill>
                <a:latin typeface="Segoe UI"/>
              </a:rPr>
              <a:t>System D quarantined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44050" y="21621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24E"/>
                </a:solidFill>
                <a:latin typeface="Segoe UI"/>
              </a:rPr>
              <a:t>pending retest; window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44050" y="23336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24E"/>
                </a:solidFill>
                <a:latin typeface="Segoe UI"/>
              </a:rPr>
              <a:t>re-opens Thursday.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448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33424E"/>
                </a:solidFill>
                <a:latin typeface="Segoe UI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