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304800"/>
            <a:ext cx="57150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Rethink Sans"/>
              </a:rPr>
              <a:t>System D trails on every metric of the readiness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3168" y="1371600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555555"/>
                </a:solidFill>
                <a:latin typeface="Poppins"/>
              </a:rPr>
              <a:t>PROGRESS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1371600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555555"/>
                </a:solidFill>
                <a:latin typeface="Poppins"/>
              </a:rPr>
              <a:t>OPEN PUNCH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31" y="1371600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555555"/>
                </a:solidFill>
                <a:latin typeface="Poppins"/>
              </a:rPr>
              <a:t>TESTS LEFT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3962400" y="1754505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222222"/>
                </a:solidFill>
                <a:latin typeface="Poppins"/>
              </a:rPr>
              <a:t>System A</a:t>
            </a:r>
          </a:p>
        </p:txBody>
      </p:sp>
      <p:sp>
        <p:nvSpPr>
          <p:cNvPr id="8" name="Rectangle 7"/>
          <p:cNvSpPr/>
          <p:nvPr/>
        </p:nvSpPr>
        <p:spPr>
          <a:xfrm>
            <a:off x="1914525" y="1609725"/>
            <a:ext cx="2292381" cy="43815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3168" y="1760696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F7FAFA"/>
                </a:solidFill>
                <a:latin typeface="Poppins"/>
              </a:rPr>
              <a:t>92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5956" y="1609725"/>
            <a:ext cx="2292381" cy="438150"/>
          </a:xfrm>
          <a:prstGeom prst="rect">
            <a:avLst/>
          </a:prstGeom>
          <a:solidFill>
            <a:srgbClr val="C8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1760696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555555"/>
                </a:solidFill>
                <a:latin typeface="Poppins"/>
              </a:rPr>
              <a:t>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7293" y="1609725"/>
            <a:ext cx="2292381" cy="438150"/>
          </a:xfrm>
          <a:prstGeom prst="rect">
            <a:avLst/>
          </a:prstGeom>
          <a:solidFill>
            <a:srgbClr val="D4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26031" y="1760696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555555"/>
                </a:solidFill>
                <a:latin typeface="Poppin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3962400" y="2211705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222222"/>
                </a:solidFill>
                <a:latin typeface="Poppins"/>
              </a:rPr>
              <a:t>System 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14525" y="2066925"/>
            <a:ext cx="2292381" cy="438150"/>
          </a:xfrm>
          <a:prstGeom prst="rect">
            <a:avLst/>
          </a:prstGeom>
          <a:solidFill>
            <a:srgbClr val="0B8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3168" y="2217896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F7FAFA"/>
                </a:solidFill>
                <a:latin typeface="Poppins"/>
              </a:rPr>
              <a:t>88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25956" y="2066925"/>
            <a:ext cx="2292381" cy="438150"/>
          </a:xfrm>
          <a:prstGeom prst="rect">
            <a:avLst/>
          </a:prstGeom>
          <a:solidFill>
            <a:srgbClr val="B0D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14600" y="2217896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555555"/>
                </a:solidFill>
                <a:latin typeface="Poppins"/>
              </a:rPr>
              <a:t>18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293" y="2066925"/>
            <a:ext cx="2292381" cy="438150"/>
          </a:xfrm>
          <a:prstGeom prst="rect">
            <a:avLst/>
          </a:prstGeom>
          <a:solidFill>
            <a:srgbClr val="C2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26031" y="2217896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555555"/>
                </a:solidFill>
                <a:latin typeface="Poppin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-3962400" y="2668905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222222"/>
                </a:solidFill>
                <a:latin typeface="Poppins"/>
              </a:rPr>
              <a:t>System 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14525" y="2524125"/>
            <a:ext cx="2292381" cy="438150"/>
          </a:xfrm>
          <a:prstGeom prst="rect">
            <a:avLst/>
          </a:prstGeom>
          <a:solidFill>
            <a:srgbClr val="30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3168" y="2675096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F7FAFA"/>
                </a:solidFill>
                <a:latin typeface="Poppins"/>
              </a:rPr>
              <a:t>74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25956" y="2524125"/>
            <a:ext cx="2292381" cy="438150"/>
          </a:xfrm>
          <a:prstGeom prst="rect">
            <a:avLst/>
          </a:prstGeom>
          <a:solidFill>
            <a:srgbClr val="95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2675096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555555"/>
                </a:solidFill>
                <a:latin typeface="Poppins"/>
              </a:rPr>
              <a:t>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37293" y="2524125"/>
            <a:ext cx="2292381" cy="438150"/>
          </a:xfrm>
          <a:prstGeom prst="rect">
            <a:avLst/>
          </a:prstGeom>
          <a:solidFill>
            <a:srgbClr val="96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26031" y="2675096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555555"/>
                </a:solidFill>
                <a:latin typeface="Poppins"/>
              </a:rPr>
              <a:t>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-3962400" y="3126105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222222"/>
                </a:solidFill>
                <a:latin typeface="Poppins"/>
              </a:rPr>
              <a:t>System 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14525" y="2981325"/>
            <a:ext cx="2292381" cy="438150"/>
          </a:xfrm>
          <a:prstGeom prst="rect">
            <a:avLst/>
          </a:prstGeom>
          <a:solidFill>
            <a:srgbClr val="89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3168" y="3132296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555555"/>
                </a:solidFill>
                <a:latin typeface="Poppins"/>
              </a:rPr>
              <a:t>41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25956" y="2981325"/>
            <a:ext cx="2292381" cy="43815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14600" y="3132296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F7FAFA"/>
                </a:solidFill>
                <a:latin typeface="Poppins"/>
              </a:rPr>
              <a:t>63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37293" y="2981325"/>
            <a:ext cx="2292381" cy="43815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26031" y="3132296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F7FAFA"/>
                </a:solidFill>
                <a:latin typeface="Poppins"/>
              </a:rPr>
              <a:t>28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-3962400" y="3583305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222222"/>
                </a:solidFill>
                <a:latin typeface="Poppins"/>
              </a:rPr>
              <a:t>System 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14525" y="3438525"/>
            <a:ext cx="2292381" cy="438150"/>
          </a:xfrm>
          <a:prstGeom prst="rect">
            <a:avLst/>
          </a:prstGeom>
          <a:solidFill>
            <a:srgbClr val="46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3168" y="3589496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F7FAFA"/>
                </a:solidFill>
                <a:latin typeface="Poppins"/>
              </a:rPr>
              <a:t>66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25956" y="3438525"/>
            <a:ext cx="2292381" cy="438150"/>
          </a:xfrm>
          <a:prstGeom prst="rect">
            <a:avLst/>
          </a:prstGeom>
          <a:solidFill>
            <a:srgbClr val="7DB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14600" y="3589496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555555"/>
                </a:solidFill>
                <a:latin typeface="Poppins"/>
              </a:rPr>
              <a:t>31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37293" y="3438525"/>
            <a:ext cx="2292381" cy="438150"/>
          </a:xfrm>
          <a:prstGeom prst="rect">
            <a:avLst/>
          </a:prstGeom>
          <a:solidFill>
            <a:srgbClr val="73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26031" y="3589496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555555"/>
                </a:solidFill>
                <a:latin typeface="Poppins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4800" y="48101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Poppins"/>
              </a:rPr>
              <a:t>Source: sample dataset v1, 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