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The port feeds the south corridor with 140 loads a week</a:t>
            </a:r>
          </a:p>
        </p:txBody>
      </p:sp>
      <p:sp>
        <p:nvSpPr>
          <p:cNvPr id="4" name="Freeform 3"/>
          <p:cNvSpPr/>
          <p:nvPr/>
        </p:nvSpPr>
        <p:spPr>
          <a:xfrm>
            <a:off x="1695450" y="1114425"/>
            <a:ext cx="3562350" cy="1028700"/>
          </a:xfrm>
          <a:custGeom>
            <a:avLst/>
            <a:gdLst/>
            <a:ahLst/>
            <a:cxnLst/>
            <a:rect l="l" t="t" r="r" b="b"/>
            <a:pathLst>
              <a:path w="374" h="108">
                <a:moveTo>
                  <a:pt x="14" y="11"/>
                </a:moveTo>
                <a:lnTo>
                  <a:pt x="338" y="0"/>
                </a:lnTo>
                <a:lnTo>
                  <a:pt x="374" y="83"/>
                </a:lnTo>
                <a:lnTo>
                  <a:pt x="194" y="108"/>
                </a:lnTo>
                <a:lnTo>
                  <a:pt x="0" y="94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85900" y="2009775"/>
            <a:ext cx="2057400" cy="1095375"/>
          </a:xfrm>
          <a:custGeom>
            <a:avLst/>
            <a:gdLst/>
            <a:ahLst/>
            <a:cxnLst/>
            <a:rect l="l" t="t" r="r" b="b"/>
            <a:pathLst>
              <a:path w="216" h="115">
                <a:moveTo>
                  <a:pt x="22" y="0"/>
                </a:moveTo>
                <a:lnTo>
                  <a:pt x="216" y="14"/>
                </a:lnTo>
                <a:lnTo>
                  <a:pt x="180" y="115"/>
                </a:lnTo>
                <a:lnTo>
                  <a:pt x="0" y="108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200400" y="1905000"/>
            <a:ext cx="2609850" cy="1200150"/>
          </a:xfrm>
          <a:custGeom>
            <a:avLst/>
            <a:gdLst/>
            <a:ahLst/>
            <a:cxnLst/>
            <a:rect l="l" t="t" r="r" b="b"/>
            <a:pathLst>
              <a:path w="274" h="126">
                <a:moveTo>
                  <a:pt x="36" y="25"/>
                </a:moveTo>
                <a:lnTo>
                  <a:pt x="216" y="0"/>
                </a:lnTo>
                <a:lnTo>
                  <a:pt x="274" y="90"/>
                </a:lnTo>
                <a:lnTo>
                  <a:pt x="0" y="126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57800" y="1733550"/>
            <a:ext cx="2400300" cy="1200150"/>
          </a:xfrm>
          <a:custGeom>
            <a:avLst/>
            <a:gdLst/>
            <a:ahLst/>
            <a:cxnLst/>
            <a:rect l="l" t="t" r="r" b="b"/>
            <a:pathLst>
              <a:path w="252" h="126">
                <a:moveTo>
                  <a:pt x="0" y="18"/>
                </a:moveTo>
                <a:lnTo>
                  <a:pt x="230" y="0"/>
                </a:lnTo>
                <a:lnTo>
                  <a:pt x="252" y="126"/>
                </a:lnTo>
                <a:lnTo>
                  <a:pt x="58" y="108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857500" y="2762250"/>
            <a:ext cx="4800600" cy="1371600"/>
          </a:xfrm>
          <a:custGeom>
            <a:avLst/>
            <a:gdLst/>
            <a:ahLst/>
            <a:cxnLst/>
            <a:rect l="l" t="t" r="r" b="b"/>
            <a:pathLst>
              <a:path w="504" h="144">
                <a:moveTo>
                  <a:pt x="36" y="36"/>
                </a:moveTo>
                <a:lnTo>
                  <a:pt x="310" y="0"/>
                </a:lnTo>
                <a:lnTo>
                  <a:pt x="504" y="18"/>
                </a:lnTo>
                <a:lnTo>
                  <a:pt x="468" y="144"/>
                </a:lnTo>
                <a:lnTo>
                  <a:pt x="0" y="137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438650" y="2028825"/>
            <a:ext cx="2190750" cy="457200"/>
          </a:xfrm>
          <a:custGeom>
            <a:avLst/>
            <a:gdLst/>
            <a:ahLst/>
            <a:cxnLst/>
            <a:rect l="l" t="t" r="r" b="b"/>
            <a:pathLst>
              <a:path w="230" h="48">
                <a:moveTo>
                  <a:pt x="230" y="5"/>
                </a:moveTo>
                <a:lnTo>
                  <a:pt x="215" y="3"/>
                </a:lnTo>
                <a:lnTo>
                  <a:pt x="199" y="1"/>
                </a:lnTo>
                <a:lnTo>
                  <a:pt x="184" y="0"/>
                </a:lnTo>
                <a:lnTo>
                  <a:pt x="169" y="0"/>
                </a:lnTo>
                <a:lnTo>
                  <a:pt x="155" y="1"/>
                </a:lnTo>
                <a:lnTo>
                  <a:pt x="140" y="2"/>
                </a:lnTo>
                <a:lnTo>
                  <a:pt x="125" y="3"/>
                </a:lnTo>
                <a:lnTo>
                  <a:pt x="111" y="6"/>
                </a:lnTo>
                <a:lnTo>
                  <a:pt x="97" y="9"/>
                </a:lnTo>
                <a:lnTo>
                  <a:pt x="82" y="13"/>
                </a:lnTo>
                <a:lnTo>
                  <a:pt x="68" y="17"/>
                </a:lnTo>
                <a:lnTo>
                  <a:pt x="54" y="22"/>
                </a:lnTo>
                <a:lnTo>
                  <a:pt x="40" y="27"/>
                </a:lnTo>
                <a:lnTo>
                  <a:pt x="27" y="34"/>
                </a:lnTo>
                <a:lnTo>
                  <a:pt x="13" y="41"/>
                </a:lnTo>
                <a:lnTo>
                  <a:pt x="0" y="48"/>
                </a:lnTo>
              </a:path>
            </a:pathLst>
          </a:custGeom>
          <a:noFill/>
          <a:ln w="109537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4438650" y="2333625"/>
            <a:ext cx="180975" cy="152400"/>
          </a:xfrm>
          <a:custGeom>
            <a:avLst/>
            <a:gdLst/>
            <a:ahLst/>
            <a:cxnLst/>
            <a:rect l="l" t="t" r="r" b="b"/>
            <a:pathLst>
              <a:path w="19" h="16">
                <a:moveTo>
                  <a:pt x="0" y="16"/>
                </a:moveTo>
                <a:lnTo>
                  <a:pt x="10" y="0"/>
                </a:lnTo>
                <a:lnTo>
                  <a:pt x="19" y="15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0515" y="1725263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140 loads</a:t>
            </a:r>
          </a:p>
        </p:txBody>
      </p:sp>
      <p:sp>
        <p:nvSpPr>
          <p:cNvPr id="12" name="Freeform 11"/>
          <p:cNvSpPr/>
          <p:nvPr/>
        </p:nvSpPr>
        <p:spPr>
          <a:xfrm>
            <a:off x="4438650" y="2486025"/>
            <a:ext cx="476250" cy="1133475"/>
          </a:xfrm>
          <a:custGeom>
            <a:avLst/>
            <a:gdLst/>
            <a:ahLst/>
            <a:cxnLst/>
            <a:rect l="l" t="t" r="r" b="b"/>
            <a:pathLst>
              <a:path w="50" h="119">
                <a:moveTo>
                  <a:pt x="0" y="0"/>
                </a:moveTo>
                <a:lnTo>
                  <a:pt x="0" y="9"/>
                </a:lnTo>
                <a:lnTo>
                  <a:pt x="1" y="17"/>
                </a:lnTo>
                <a:lnTo>
                  <a:pt x="3" y="25"/>
                </a:lnTo>
                <a:lnTo>
                  <a:pt x="4" y="33"/>
                </a:lnTo>
                <a:lnTo>
                  <a:pt x="6" y="41"/>
                </a:lnTo>
                <a:lnTo>
                  <a:pt x="8" y="49"/>
                </a:lnTo>
                <a:lnTo>
                  <a:pt x="11" y="57"/>
                </a:lnTo>
                <a:lnTo>
                  <a:pt x="14" y="64"/>
                </a:lnTo>
                <a:lnTo>
                  <a:pt x="17" y="71"/>
                </a:lnTo>
                <a:lnTo>
                  <a:pt x="21" y="79"/>
                </a:lnTo>
                <a:lnTo>
                  <a:pt x="25" y="86"/>
                </a:lnTo>
                <a:lnTo>
                  <a:pt x="29" y="93"/>
                </a:lnTo>
                <a:lnTo>
                  <a:pt x="34" y="99"/>
                </a:lnTo>
                <a:lnTo>
                  <a:pt x="39" y="106"/>
                </a:lnTo>
                <a:lnTo>
                  <a:pt x="44" y="113"/>
                </a:lnTo>
                <a:lnTo>
                  <a:pt x="50" y="119"/>
                </a:lnTo>
              </a:path>
            </a:pathLst>
          </a:custGeom>
          <a:noFill/>
          <a:ln w="75533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72025" y="3476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15"/>
                </a:moveTo>
                <a:lnTo>
                  <a:pt x="0" y="10"/>
                </a:lnTo>
                <a:lnTo>
                  <a:pt x="11" y="0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447925" y="2352675"/>
            <a:ext cx="1990725" cy="238125"/>
          </a:xfrm>
          <a:custGeom>
            <a:avLst/>
            <a:gdLst/>
            <a:ahLst/>
            <a:cxnLst/>
            <a:rect l="l" t="t" r="r" b="b"/>
            <a:pathLst>
              <a:path w="209" h="25">
                <a:moveTo>
                  <a:pt x="209" y="14"/>
                </a:moveTo>
                <a:lnTo>
                  <a:pt x="195" y="10"/>
                </a:lnTo>
                <a:lnTo>
                  <a:pt x="182" y="7"/>
                </a:lnTo>
                <a:lnTo>
                  <a:pt x="169" y="5"/>
                </a:lnTo>
                <a:lnTo>
                  <a:pt x="156" y="3"/>
                </a:lnTo>
                <a:lnTo>
                  <a:pt x="143" y="1"/>
                </a:lnTo>
                <a:lnTo>
                  <a:pt x="129" y="1"/>
                </a:lnTo>
                <a:lnTo>
                  <a:pt x="116" y="0"/>
                </a:lnTo>
                <a:lnTo>
                  <a:pt x="103" y="1"/>
                </a:lnTo>
                <a:lnTo>
                  <a:pt x="90" y="2"/>
                </a:lnTo>
                <a:lnTo>
                  <a:pt x="77" y="3"/>
                </a:lnTo>
                <a:lnTo>
                  <a:pt x="64" y="5"/>
                </a:lnTo>
                <a:lnTo>
                  <a:pt x="51" y="8"/>
                </a:lnTo>
                <a:lnTo>
                  <a:pt x="38" y="12"/>
                </a:lnTo>
                <a:lnTo>
                  <a:pt x="25" y="15"/>
                </a:lnTo>
                <a:lnTo>
                  <a:pt x="13" y="20"/>
                </a:lnTo>
                <a:lnTo>
                  <a:pt x="0" y="25"/>
                </a:lnTo>
              </a:path>
            </a:pathLst>
          </a:custGeom>
          <a:noFill/>
          <a:ln w="44862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447925" y="250507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9"/>
                </a:moveTo>
                <a:lnTo>
                  <a:pt x="8" y="0"/>
                </a:lnTo>
                <a:lnTo>
                  <a:pt x="12" y="10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333750" y="1628775"/>
            <a:ext cx="1104900" cy="857250"/>
          </a:xfrm>
          <a:custGeom>
            <a:avLst/>
            <a:gdLst/>
            <a:ahLst/>
            <a:cxnLst/>
            <a:rect l="l" t="t" r="r" b="b"/>
            <a:pathLst>
              <a:path w="116" h="90">
                <a:moveTo>
                  <a:pt x="116" y="90"/>
                </a:moveTo>
                <a:lnTo>
                  <a:pt x="110" y="82"/>
                </a:lnTo>
                <a:lnTo>
                  <a:pt x="105" y="74"/>
                </a:lnTo>
                <a:lnTo>
                  <a:pt x="99" y="67"/>
                </a:lnTo>
                <a:lnTo>
                  <a:pt x="93" y="60"/>
                </a:lnTo>
                <a:lnTo>
                  <a:pt x="87" y="53"/>
                </a:lnTo>
                <a:lnTo>
                  <a:pt x="80" y="47"/>
                </a:lnTo>
                <a:lnTo>
                  <a:pt x="73" y="41"/>
                </a:lnTo>
                <a:lnTo>
                  <a:pt x="66" y="35"/>
                </a:lnTo>
                <a:lnTo>
                  <a:pt x="59" y="29"/>
                </a:lnTo>
                <a:lnTo>
                  <a:pt x="51" y="24"/>
                </a:lnTo>
                <a:lnTo>
                  <a:pt x="43" y="19"/>
                </a:lnTo>
                <a:lnTo>
                  <a:pt x="35" y="15"/>
                </a:lnTo>
                <a:lnTo>
                  <a:pt x="27" y="11"/>
                </a:lnTo>
                <a:lnTo>
                  <a:pt x="18" y="7"/>
                </a:lnTo>
                <a:lnTo>
                  <a:pt x="9" y="3"/>
                </a:lnTo>
                <a:lnTo>
                  <a:pt x="0" y="0"/>
                </a:lnTo>
              </a:path>
            </a:pathLst>
          </a:custGeom>
          <a:noFill/>
          <a:ln w="34671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333750" y="1619250"/>
            <a:ext cx="104775" cy="85725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0" y="1"/>
                </a:moveTo>
                <a:lnTo>
                  <a:pt x="11" y="0"/>
                </a:lnTo>
                <a:lnTo>
                  <a:pt x="8" y="9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914900" y="2076450"/>
            <a:ext cx="1714500" cy="1543050"/>
          </a:xfrm>
          <a:custGeom>
            <a:avLst/>
            <a:gdLst/>
            <a:ahLst/>
            <a:cxnLst/>
            <a:rect l="l" t="t" r="r" b="b"/>
            <a:pathLst>
              <a:path w="180" h="162">
                <a:moveTo>
                  <a:pt x="180" y="0"/>
                </a:moveTo>
                <a:lnTo>
                  <a:pt x="165" y="6"/>
                </a:lnTo>
                <a:lnTo>
                  <a:pt x="151" y="13"/>
                </a:lnTo>
                <a:lnTo>
                  <a:pt x="137" y="21"/>
                </a:lnTo>
                <a:lnTo>
                  <a:pt x="124" y="28"/>
                </a:lnTo>
                <a:lnTo>
                  <a:pt x="111" y="37"/>
                </a:lnTo>
                <a:lnTo>
                  <a:pt x="99" y="46"/>
                </a:lnTo>
                <a:lnTo>
                  <a:pt x="87" y="55"/>
                </a:lnTo>
                <a:lnTo>
                  <a:pt x="75" y="65"/>
                </a:lnTo>
                <a:lnTo>
                  <a:pt x="64" y="75"/>
                </a:lnTo>
                <a:lnTo>
                  <a:pt x="54" y="86"/>
                </a:lnTo>
                <a:lnTo>
                  <a:pt x="44" y="97"/>
                </a:lnTo>
                <a:lnTo>
                  <a:pt x="34" y="109"/>
                </a:lnTo>
                <a:lnTo>
                  <a:pt x="25" y="122"/>
                </a:lnTo>
                <a:lnTo>
                  <a:pt x="16" y="135"/>
                </a:lnTo>
                <a:lnTo>
                  <a:pt x="8" y="148"/>
                </a:lnTo>
                <a:lnTo>
                  <a:pt x="0" y="162"/>
                </a:lnTo>
              </a:path>
            </a:pathLst>
          </a:custGeom>
          <a:noFill/>
          <a:ln w="31337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914900" y="35242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0" y="10"/>
                </a:moveTo>
                <a:lnTo>
                  <a:pt x="0" y="0"/>
                </a:lnTo>
                <a:lnTo>
                  <a:pt x="8" y="4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1775" y="2028825"/>
            <a:ext cx="95250" cy="952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0" y="1876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Port</a:t>
            </a:r>
          </a:p>
        </p:txBody>
      </p:sp>
      <p:sp>
        <p:nvSpPr>
          <p:cNvPr id="22" name="Oval 21"/>
          <p:cNvSpPr/>
          <p:nvPr/>
        </p:nvSpPr>
        <p:spPr>
          <a:xfrm>
            <a:off x="4387215" y="2440305"/>
            <a:ext cx="95250" cy="952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77340" y="228790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Hub</a:t>
            </a:r>
          </a:p>
        </p:txBody>
      </p:sp>
      <p:sp>
        <p:nvSpPr>
          <p:cNvPr id="24" name="Oval 23"/>
          <p:cNvSpPr/>
          <p:nvPr/>
        </p:nvSpPr>
        <p:spPr>
          <a:xfrm>
            <a:off x="4867275" y="3571875"/>
            <a:ext cx="95250" cy="952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4194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South site</a:t>
            </a:r>
          </a:p>
        </p:txBody>
      </p:sp>
      <p:sp>
        <p:nvSpPr>
          <p:cNvPr id="26" name="Oval 25"/>
          <p:cNvSpPr/>
          <p:nvPr/>
        </p:nvSpPr>
        <p:spPr>
          <a:xfrm>
            <a:off x="2398395" y="2543175"/>
            <a:ext cx="95250" cy="952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-411479" y="23907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West site</a:t>
            </a:r>
          </a:p>
        </p:txBody>
      </p:sp>
      <p:sp>
        <p:nvSpPr>
          <p:cNvPr id="28" name="Oval 27"/>
          <p:cNvSpPr/>
          <p:nvPr/>
        </p:nvSpPr>
        <p:spPr>
          <a:xfrm>
            <a:off x="3289935" y="1583055"/>
            <a:ext cx="95250" cy="9525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" y="143065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555555"/>
                </a:solidFill>
                <a:latin typeface="Poppins"/>
              </a:rPr>
              <a:t>North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